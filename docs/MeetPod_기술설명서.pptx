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023360"/>
            <a:ext cx="12191695" cy="635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332720" cy="1371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6000" b="1">
                <a:solidFill>
                  <a:srgbClr val="FFFFFF"/>
                </a:solidFill>
                <a:latin typeface="맑은 고딕"/>
                <a:ea typeface="맑은 고딕"/>
              </a:rPr>
              <a:t>MeetPod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291840"/>
            <a:ext cx="1033272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0">
                <a:solidFill>
                  <a:srgbClr val="FFF2CC"/>
                </a:solidFill>
                <a:latin typeface="맑은 고딕"/>
                <a:ea typeface="맑은 고딕"/>
              </a:rPr>
              <a:t>기술 설명서 (Technical Overview)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4297680"/>
            <a:ext cx="10332720" cy="1371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맑은 고딕"/>
                <a:ea typeface="맑은 고딕"/>
              </a:rPr>
              <a:t>친구 간 약속 · 실시간 위치 공유 · 채팅 모바일 앱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FAD7BC"/>
                </a:solidFill>
                <a:latin typeface="맑은 고딕"/>
                <a:ea typeface="맑은 고딕"/>
              </a:rPr>
              <a:t>Expo / React Native  ·  FastAPI  ·  Supabase  ·  Vercel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6035040"/>
            <a:ext cx="1033272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FAD7BC"/>
                </a:solidFill>
                <a:latin typeface="맑은 고딕"/>
                <a:ea typeface="맑은 고딕"/>
              </a:rPr>
              <a:t>최종 갱신: 2026-05-31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8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0515600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개요 &amp; 목차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0"/>
            <a:ext cx="822960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>
              <a:spcAft>
                <a:spcPts val="200"/>
              </a:spcAft>
            </a:pPr>
            <a:r>
              <a:rPr sz="1600" b="1">
                <a:solidFill>
                  <a:srgbClr val="FFF2CC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262626"/>
                </a:solidFill>
                <a:latin typeface="맑은 고딕"/>
                <a:ea typeface="맑은 고딕"/>
              </a:rPr>
              <a:t>MeetPod는 친구들끼리 약속을 잡고, 약속 시간 동안 서로의 위치를 실시간 공유하며,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262626"/>
                </a:solidFill>
                <a:latin typeface="맑은 고딕"/>
                <a:ea typeface="맑은 고딕"/>
              </a:rPr>
              <a:t>그룹·약속 단위로 채팅하는 모바일 앱입니다.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3566160" cy="1371600"/>
          </a:xfrm>
          <a:prstGeom prst="roundRect">
            <a:avLst/>
          </a:prstGeom>
          <a:solidFill>
            <a:srgbClr val="E8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35661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권한성 쓰기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80360"/>
            <a:ext cx="356616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맑은 고딕"/>
                <a:ea typeface="맑은 고딕"/>
              </a:rPr>
              <a:t>FastAPI 백엔드를
경유해 검증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286000"/>
            <a:ext cx="3566160" cy="1371600"/>
          </a:xfrm>
          <a:prstGeom prst="roundRect">
            <a:avLst/>
          </a:prstGeom>
          <a:solidFill>
            <a:srgbClr val="2E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2377440"/>
            <a:ext cx="35661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실시간 수신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880360"/>
            <a:ext cx="356616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맑은 고딕"/>
                <a:ea typeface="맑은 고딕"/>
              </a:rPr>
              <a:t>Supabase Realtime에
직접 연결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286000"/>
            <a:ext cx="3566160" cy="1371600"/>
          </a:xfrm>
          <a:prstGeom prst="roundRect">
            <a:avLst/>
          </a:prstGeom>
          <a:solidFill>
            <a:srgbClr val="3C8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377440"/>
            <a:ext cx="35661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단일 인증 출처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880360"/>
            <a:ext cx="356616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맑은 고딕"/>
                <a:ea typeface="맑은 고딕"/>
              </a:rPr>
              <a:t>Supabase Auth
토큰만 사용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023360"/>
            <a:ext cx="10881360" cy="228600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20624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262626"/>
                </a:solidFill>
                <a:latin typeface="맑은 고딕"/>
                <a:ea typeface="맑은 고딕"/>
              </a:rPr>
              <a:t>1. 시스템 구성도                                2. 기술 스택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62626"/>
                </a:solidFill>
                <a:latin typeface="맑은 고딕"/>
                <a:ea typeface="맑은 고딕"/>
              </a:rPr>
              <a:t>3. 인증 시스템 (Google 로그인)                    4. 백엔드 구조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62626"/>
                </a:solidFill>
                <a:latin typeface="맑은 고딕"/>
                <a:ea typeface="맑은 고딕"/>
              </a:rPr>
              <a:t>5. 데이터 모델 &amp; 보안(RLS)                       6. 핵심 기능 동작 원리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62626"/>
                </a:solidFill>
                <a:latin typeface="맑은 고딕"/>
                <a:ea typeface="맑은 고딕"/>
              </a:rPr>
              <a:t>7. 인프라 역할과 설정 (Supabase · Vercel)         8. 배포 구성 &amp; 환경 변수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8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0515600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1. 시스템 구성도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0"/>
            <a:ext cx="822960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>
              <a:spcAft>
                <a:spcPts val="200"/>
              </a:spcAft>
            </a:pPr>
            <a:r>
              <a:rPr sz="1600" b="1">
                <a:solidFill>
                  <a:srgbClr val="FFF2CC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71600"/>
            <a:ext cx="2743200" cy="4206240"/>
          </a:xfrm>
          <a:prstGeom prst="roundRect">
            <a:avLst/>
          </a:prstGeom>
          <a:noFill/>
          <a:ln w="25400">
            <a:solidFill>
              <a:srgbClr val="E862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6560" y="1409700"/>
            <a:ext cx="2641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E8621A"/>
                </a:solidFill>
                <a:latin typeface="맑은 고딕"/>
                <a:ea typeface="맑은 고딕"/>
              </a:rPr>
              <a:t>📱 모바일 (Expo/RN)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2377440" cy="502920"/>
          </a:xfrm>
          <a:prstGeom prst="roundRect">
            <a:avLst/>
          </a:prstGeom>
          <a:solidFill>
            <a:srgbClr val="E8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237744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화면 / 네비게이션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23160"/>
            <a:ext cx="2377440" cy="502920"/>
          </a:xfrm>
          <a:prstGeom prst="roundRect">
            <a:avLst/>
          </a:prstGeom>
          <a:solidFill>
            <a:srgbClr val="E8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423160"/>
            <a:ext cx="237744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Zustand 스토어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063240"/>
            <a:ext cx="2377440" cy="502920"/>
          </a:xfrm>
          <a:prstGeom prst="roundRect">
            <a:avLst/>
          </a:prstGeom>
          <a:solidFill>
            <a:srgbClr val="C24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063240"/>
            <a:ext cx="237744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Supabase JS SDK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03320"/>
            <a:ext cx="2377440" cy="502920"/>
          </a:xfrm>
          <a:prstGeom prst="roundRect">
            <a:avLst/>
          </a:prstGeom>
          <a:solidFill>
            <a:srgbClr val="C24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703320"/>
            <a:ext cx="237744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axios API 클라이언트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43400"/>
            <a:ext cx="2377440" cy="502920"/>
          </a:xfrm>
          <a:prstGeom prst="roundRect">
            <a:avLst/>
          </a:prstGeom>
          <a:solidFill>
            <a:srgbClr val="C24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343400"/>
            <a:ext cx="237744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백그라운드 위치 추적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0" y="1371600"/>
            <a:ext cx="2560320" cy="1828800"/>
          </a:xfrm>
          <a:prstGeom prst="roundRect">
            <a:avLst/>
          </a:prstGeom>
          <a:noFill/>
          <a:ln w="25400">
            <a:solidFill>
              <a:srgbClr val="2E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08400" y="1409700"/>
            <a:ext cx="24587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E6DB5"/>
                </a:solidFill>
                <a:latin typeface="맑은 고딕"/>
                <a:ea typeface="맑은 고딕"/>
              </a:rPr>
              <a:t>☁️ Vercel (서버리스)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86200" y="1920240"/>
            <a:ext cx="2103120" cy="1005840"/>
          </a:xfrm>
          <a:prstGeom prst="roundRect">
            <a:avLst/>
          </a:prstGeom>
          <a:solidFill>
            <a:srgbClr val="2E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86200" y="1920240"/>
            <a:ext cx="2103120" cy="10058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FastAPI 백엔드
(JWT 검증 · 로직)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66560" y="1371600"/>
            <a:ext cx="2926080" cy="4206240"/>
          </a:xfrm>
          <a:prstGeom prst="roundRect">
            <a:avLst/>
          </a:prstGeom>
          <a:noFill/>
          <a:ln w="25400">
            <a:solidFill>
              <a:srgbClr val="3C8C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7360" y="1409700"/>
            <a:ext cx="282448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3C8C4E"/>
                </a:solidFill>
                <a:latin typeface="맑은 고딕"/>
                <a:ea typeface="맑은 고딕"/>
              </a:rPr>
              <a:t>🟢 Supabase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49440" y="1783080"/>
            <a:ext cx="2560320" cy="475488"/>
          </a:xfrm>
          <a:prstGeom prst="roundRect">
            <a:avLst/>
          </a:prstGeom>
          <a:solidFill>
            <a:srgbClr val="3C8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0" y="1783080"/>
            <a:ext cx="2560320" cy="47548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Auth / OAuth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0" y="2386584"/>
            <a:ext cx="2560320" cy="475488"/>
          </a:xfrm>
          <a:prstGeom prst="roundRect">
            <a:avLst/>
          </a:prstGeom>
          <a:solidFill>
            <a:srgbClr val="3C8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0" y="2386584"/>
            <a:ext cx="2560320" cy="47548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PostgreSQL + RLS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49440" y="2990088"/>
            <a:ext cx="2560320" cy="475488"/>
          </a:xfrm>
          <a:prstGeom prst="roundRect">
            <a:avLst/>
          </a:prstGeom>
          <a:solidFill>
            <a:srgbClr val="3C8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0" y="2990088"/>
            <a:ext cx="2560320" cy="47548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Realtime WS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49440" y="3593591"/>
            <a:ext cx="2560320" cy="475488"/>
          </a:xfrm>
          <a:prstGeom prst="roundRect">
            <a:avLst/>
          </a:prstGeom>
          <a:solidFill>
            <a:srgbClr val="3C8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0" y="3593591"/>
            <a:ext cx="2560320" cy="47548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Storage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49440" y="4197096"/>
            <a:ext cx="2560320" cy="475488"/>
          </a:xfrm>
          <a:prstGeom prst="round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0" y="4197096"/>
            <a:ext cx="2560320" cy="47548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Edge: push-worker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49440" y="4800600"/>
            <a:ext cx="2560320" cy="475488"/>
          </a:xfrm>
          <a:prstGeom prst="round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0" y="4800600"/>
            <a:ext cx="2560320" cy="47548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pg_cron + pg_net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149840" y="1371600"/>
            <a:ext cx="1828800" cy="4206240"/>
          </a:xfrm>
          <a:prstGeom prst="roundRect">
            <a:avLst/>
          </a:prstGeom>
          <a:noFill/>
          <a:ln w="254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00640" y="1409700"/>
            <a:ext cx="1727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404040"/>
                </a:solidFill>
                <a:latin typeface="맑은 고딕"/>
                <a:ea typeface="맑은 고딕"/>
              </a:rPr>
              <a:t>🌐 외부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287000" y="1920240"/>
            <a:ext cx="1554480" cy="640080"/>
          </a:xfrm>
          <a:prstGeom prst="round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87000" y="1920240"/>
            <a:ext cx="155448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Google OAuth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287000" y="2788920"/>
            <a:ext cx="1554480" cy="640080"/>
          </a:xfrm>
          <a:prstGeom prst="round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287000" y="2788920"/>
            <a:ext cx="155448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Google Maps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287000" y="3657600"/>
            <a:ext cx="1554480" cy="640080"/>
          </a:xfrm>
          <a:prstGeom prst="round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287000" y="3657600"/>
            <a:ext cx="155448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Expo Push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3127248" y="3794760"/>
            <a:ext cx="502920" cy="274320"/>
          </a:xfrm>
          <a:prstGeom prst="rightArrow">
            <a:avLst/>
          </a:prstGeom>
          <a:solidFill>
            <a:srgbClr val="E8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ight Arrow 44"/>
          <p:cNvSpPr/>
          <p:nvPr/>
        </p:nvSpPr>
        <p:spPr>
          <a:xfrm>
            <a:off x="6263640" y="2286000"/>
            <a:ext cx="457200" cy="274320"/>
          </a:xfrm>
          <a:prstGeom prst="rightArrow">
            <a:avLst/>
          </a:prstGeom>
          <a:solidFill>
            <a:srgbClr val="2E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ight Arrow 45"/>
          <p:cNvSpPr/>
          <p:nvPr/>
        </p:nvSpPr>
        <p:spPr>
          <a:xfrm>
            <a:off x="3127248" y="2651760"/>
            <a:ext cx="3566160" cy="256032"/>
          </a:xfrm>
          <a:prstGeom prst="rightArrow">
            <a:avLst/>
          </a:prstGeom>
          <a:solidFill>
            <a:srgbClr val="3C8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5715000"/>
            <a:ext cx="1143000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262626"/>
                </a:solidFill>
                <a:latin typeface="맑은 고딕"/>
                <a:ea typeface="맑은 고딕"/>
              </a:rPr>
              <a:t>쓰기(권한 검증 필요): 모바일 → Vercel → Supabase    |    읽기·실시간: 모바일 → Supabase 직결 (RLS 보호)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8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0515600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2. 기술 스택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0"/>
            <a:ext cx="822960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>
              <a:spcAft>
                <a:spcPts val="200"/>
              </a:spcAft>
            </a:pPr>
            <a:r>
              <a:rPr sz="1600" b="1">
                <a:solidFill>
                  <a:srgbClr val="FFF2CC"/>
                </a:solidFill>
                <a:latin typeface="맑은 고딕"/>
                <a:ea typeface="맑은 고딕"/>
              </a:rPr>
              <a:t>03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371600"/>
          <a:ext cx="10515600" cy="46085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7772400"/>
              </a:tblGrid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레이어</a:t>
                      </a:r>
                    </a:p>
                  </a:txBody>
                  <a:tcPr anchor="ctr" marL="63500" marR="63500" marT="25400" marB="25400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기술</a:t>
                      </a:r>
                    </a:p>
                  </a:txBody>
                  <a:tcPr anchor="ctr" marL="63500" marR="63500" marT="25400" marB="25400">
                    <a:solidFill>
                      <a:srgbClr val="40404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모바일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Expo SDK 54, React Native 0.81, TypeScript, React Navigation 7, Zustand 5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백엔드</a:t>
                      </a:r>
                    </a:p>
                  </a:txBody>
                  <a:tcPr anchor="ctr" marL="63500" marR="63500" marT="25400" marB="254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FastAPI 0.115, Python 3.12, supabase-py 2.8+, Mangum (서버리스 어댑터)</a:t>
                      </a:r>
                    </a:p>
                  </a:txBody>
                  <a:tcPr anchor="ctr" marL="63500" marR="63500" marT="25400" marB="25400">
                    <a:solidFill>
                      <a:srgbClr val="F2F2F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DB / 인증 / 실시간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Supabase (PostgreSQL 15, Auth OAuth, RLS, Realtime)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지도</a:t>
                      </a:r>
                    </a:p>
                  </a:txBody>
                  <a:tcPr anchor="ctr" marL="63500" marR="63500" marT="25400" marB="254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Google Maps SDK + Places API (New)</a:t>
                      </a:r>
                    </a:p>
                  </a:txBody>
                  <a:tcPr anchor="ctr" marL="63500" marR="63500" marT="25400" marB="25400">
                    <a:solidFill>
                      <a:srgbClr val="F2F2F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푸시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Expo Notifications + Expo Push 서비스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배포</a:t>
                      </a:r>
                    </a:p>
                  </a:txBody>
                  <a:tcPr anchor="ctr" marL="63500" marR="63500" marT="25400" marB="254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Vercel (백엔드 서버리스), EAS Build (iOS TestFlight / Android APK)</a:t>
                      </a:r>
                    </a:p>
                  </a:txBody>
                  <a:tcPr anchor="ctr" marL="63500" marR="63500" marT="25400" marB="2540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8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0515600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3. 인증 시스템 — 3주체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0"/>
            <a:ext cx="822960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>
              <a:spcAft>
                <a:spcPts val="200"/>
              </a:spcAft>
            </a:pPr>
            <a:r>
              <a:rPr sz="1600" b="1">
                <a:solidFill>
                  <a:srgbClr val="FFF2CC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262626"/>
                </a:solidFill>
                <a:latin typeface="맑은 고딕"/>
                <a:ea typeface="맑은 고딕"/>
              </a:rPr>
              <a:t>Google 로그인은 세 주체가 협력합니다.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3566160" cy="1828800"/>
          </a:xfrm>
          <a:prstGeom prst="roundRect">
            <a:avLst/>
          </a:prstGeom>
          <a:solidFill>
            <a:srgbClr val="E8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356616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</a:rPr>
              <a:t>📱 모바일 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97480"/>
            <a:ext cx="3566160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맑은 고딕"/>
                <a:ea typeface="맑은 고딕"/>
              </a:rPr>
              <a:t>OAuth 플로우를 띄우고
세션(토큰)을 수령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828800"/>
            <a:ext cx="3566160" cy="1828800"/>
          </a:xfrm>
          <a:prstGeom prst="roundRect">
            <a:avLst/>
          </a:prstGeom>
          <a:solidFill>
            <a:srgbClr val="3C8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2057400"/>
            <a:ext cx="356616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</a:rPr>
              <a:t>🟢 Supabase Auth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697480"/>
            <a:ext cx="3566160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맑은 고딕"/>
                <a:ea typeface="맑은 고딕"/>
              </a:rPr>
              <a:t>Google 로그인 위임
ES256 JWT 발급 · JWKS 제공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828800"/>
            <a:ext cx="3566160" cy="1828800"/>
          </a:xfrm>
          <a:prstGeom prst="roundRect">
            <a:avLst/>
          </a:prstGeom>
          <a:solidFill>
            <a:srgbClr val="2E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057400"/>
            <a:ext cx="356616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</a:rPr>
              <a:t>☁️ FastAPI 백엔드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697480"/>
            <a:ext cx="3566160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맑은 고딕"/>
                <a:ea typeface="맑은 고딕"/>
              </a:rPr>
              <a:t>JWKS 공개키로
JWT 서명·만료 검증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023360"/>
            <a:ext cx="10881360" cy="2286000"/>
          </a:xfrm>
          <a:prstGeom prst="roundRect">
            <a:avLst/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160520"/>
            <a:ext cx="10332720" cy="21031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C24E10"/>
                </a:solidFill>
                <a:latin typeface="맑은 고딕"/>
                <a:ea typeface="맑은 고딕"/>
              </a:rPr>
              <a:t>핵심 포인트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262626"/>
                </a:solidFill>
                <a:latin typeface="맑은 고딕"/>
                <a:ea typeface="맑은 고딕"/>
              </a:rPr>
              <a:t>• supabase-js v2는 기본 PKCE 플로우 → 콜백에 인증 코드(code)가 오므로 exchangeCodeForSession으로 교환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262626"/>
                </a:solidFill>
                <a:latin typeface="맑은 고딕"/>
                <a:ea typeface="맑은 고딕"/>
              </a:rPr>
              <a:t>• Supabase JWT는 비대칭 ES256(P-256) 서명 → 대시보드의 'JWT secret'은 HMAC 키가 아니라 키 ID(kid)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262626"/>
                </a:solidFill>
                <a:latin typeface="맑은 고딕"/>
                <a:ea typeface="맑은 고딕"/>
              </a:rPr>
              <a:t>• 백엔드는 JWKS(/auth/v1/.well-known/jwks.json)에서 공개키를 받아 검증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262626"/>
                </a:solidFill>
                <a:latin typeface="맑은 고딕"/>
                <a:ea typeface="맑은 고딕"/>
              </a:rPr>
              <a:t>• 자체 JWT 미발급 — Supabase가 단일 인증 출처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8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0515600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3. Google 로그인 흐름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0"/>
            <a:ext cx="822960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>
              <a:spcAft>
                <a:spcPts val="200"/>
              </a:spcAft>
            </a:pPr>
            <a:r>
              <a:rPr sz="1600" b="1">
                <a:solidFill>
                  <a:srgbClr val="FFF2CC"/>
                </a:solidFill>
                <a:latin typeface="맑은 고딕"/>
                <a:ea typeface="맑은 고딕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109728" cy="411480"/>
          </a:xfrm>
          <a:prstGeom prst="rect">
            <a:avLst/>
          </a:prstGeom>
          <a:solidFill>
            <a:srgbClr val="E8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1051560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262626"/>
                </a:solidFill>
                <a:latin typeface="맑은 고딕"/>
                <a:ea typeface="맑은 고딕"/>
              </a:rPr>
              <a:t>① 사용자가 'Google로 계속하기' 탭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65376"/>
            <a:ext cx="109728" cy="411480"/>
          </a:xfrm>
          <a:prstGeom prst="rect">
            <a:avLst/>
          </a:prstGeom>
          <a:solidFill>
            <a:srgbClr val="E8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65376"/>
            <a:ext cx="1051560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262626"/>
                </a:solidFill>
                <a:latin typeface="맑은 고딕"/>
                <a:ea typeface="맑은 고딕"/>
              </a:rPr>
              <a:t>② 앱 → supabase.auth.signInWithOAuth(google, PKCE) → 인증 URL 수신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404872"/>
            <a:ext cx="109728" cy="41148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404872"/>
            <a:ext cx="1051560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262626"/>
                </a:solidFill>
                <a:latin typeface="맑은 고딕"/>
                <a:ea typeface="맑은 고딕"/>
              </a:rPr>
              <a:t>③ 인앱 브라우저로 Google 로그인 화면 표시 → 계정 선택/동의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944368"/>
            <a:ext cx="109728" cy="411480"/>
          </a:xfrm>
          <a:prstGeom prst="rect">
            <a:avLst/>
          </a:prstGeom>
          <a:solidFill>
            <a:srgbClr val="3C8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944368"/>
            <a:ext cx="1051560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262626"/>
                </a:solidFill>
                <a:latin typeface="맑은 고딕"/>
                <a:ea typeface="맑은 고딕"/>
              </a:rPr>
              <a:t>④ Google → Supabase로 인증 코드 전달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483863"/>
            <a:ext cx="109728" cy="411480"/>
          </a:xfrm>
          <a:prstGeom prst="rect">
            <a:avLst/>
          </a:prstGeom>
          <a:solidFill>
            <a:srgbClr val="3C8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483863"/>
            <a:ext cx="1051560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262626"/>
                </a:solidFill>
                <a:latin typeface="맑은 고딕"/>
                <a:ea typeface="맑은 고딕"/>
              </a:rPr>
              <a:t>⑤ Supabase → meetpod://auth-callback?code=... 로 앱 복귀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023359"/>
            <a:ext cx="109728" cy="411480"/>
          </a:xfrm>
          <a:prstGeom prst="rect">
            <a:avLst/>
          </a:prstGeom>
          <a:solidFill>
            <a:srgbClr val="E8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023359"/>
            <a:ext cx="1051560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262626"/>
                </a:solidFill>
                <a:latin typeface="맑은 고딕"/>
                <a:ea typeface="맑은 고딕"/>
              </a:rPr>
              <a:t>⑥ 앱 → exchangeCodeForSession(code) → 세션(access/refresh token) 획득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562856"/>
            <a:ext cx="109728" cy="41148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562856"/>
            <a:ext cx="1051560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262626"/>
                </a:solidFill>
                <a:latin typeface="맑은 고딕"/>
                <a:ea typeface="맑은 고딕"/>
              </a:rPr>
              <a:t>⑦ 앱 → GET /api/profiles/me (Bearer access_token)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102352"/>
            <a:ext cx="109728" cy="411480"/>
          </a:xfrm>
          <a:prstGeom prst="rect">
            <a:avLst/>
          </a:prstGeom>
          <a:solidFill>
            <a:srgbClr val="2E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102352"/>
            <a:ext cx="1051560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262626"/>
                </a:solidFill>
                <a:latin typeface="맑은 고딕"/>
                <a:ea typeface="맑은 고딕"/>
              </a:rPr>
              <a:t>⑧ 백엔드 → JWKS 공개키 조회(캐시) → ES256 서명·만료 검증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641848"/>
            <a:ext cx="109728" cy="41148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641848"/>
            <a:ext cx="1051560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262626"/>
                </a:solidFill>
                <a:latin typeface="맑은 고딕"/>
                <a:ea typeface="맑은 고딕"/>
              </a:rPr>
              <a:t>⑨ 프로필 반환 (없으면 404 → POST /api/auth/bootstrap)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8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0515600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3. PKCE 교환 &amp; JWT 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0"/>
            <a:ext cx="822960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>
              <a:spcAft>
                <a:spcPts val="200"/>
              </a:spcAft>
            </a:pPr>
            <a:r>
              <a:rPr sz="1600" b="1">
                <a:solidFill>
                  <a:srgbClr val="FFF2CC"/>
                </a:solidFill>
                <a:latin typeface="맑은 고딕"/>
                <a:ea typeface="맑은 고딕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5486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C24E10"/>
                </a:solidFill>
                <a:latin typeface="맑은 고딕"/>
                <a:ea typeface="맑은 고딕"/>
              </a:rPr>
              <a:t>모바일 (LoginScreen.tsx)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5394960" cy="2468880"/>
          </a:xfrm>
          <a:prstGeom prst="round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5120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9CDCFE"/>
                </a:solidFill>
                <a:latin typeface="Consolas"/>
                <a:ea typeface="Consolas"/>
              </a:rPr>
              <a:t>const result = await WebBrowser</a:t>
            </a:r>
          </a:p>
          <a:p>
            <a:r>
              <a:rPr sz="1150" b="0">
                <a:solidFill>
                  <a:srgbClr val="9CDCFE"/>
                </a:solidFill>
                <a:latin typeface="Consolas"/>
                <a:ea typeface="Consolas"/>
              </a:rPr>
              <a:t>  .openAuthSessionAsync(data.url, redirectTo);</a:t>
            </a:r>
          </a:p>
          <a:p>
            <a:r>
              <a:rPr sz="1150" b="0">
                <a:solidFill>
                  <a:srgbClr val="9CDCFE"/>
                </a:solidFill>
                <a:latin typeface="Consolas"/>
                <a:ea typeface="Consolas"/>
              </a:rPr>
              <a:t> </a:t>
            </a:r>
          </a:p>
          <a:p>
            <a:r>
              <a:rPr sz="1150" b="0">
                <a:solidFill>
                  <a:srgbClr val="9CDCFE"/>
                </a:solidFill>
                <a:latin typeface="Consolas"/>
                <a:ea typeface="Consolas"/>
              </a:rPr>
              <a:t>if (result.url.includes('code=')) {</a:t>
            </a:r>
          </a:p>
          <a:p>
            <a:r>
              <a:rPr sz="1150" b="0">
                <a:solidFill>
                  <a:srgbClr val="9CDCFE"/>
                </a:solidFill>
                <a:latin typeface="Consolas"/>
                <a:ea typeface="Consolas"/>
              </a:rPr>
              <a:t>  const code = new URL(result.url)</a:t>
            </a:r>
          </a:p>
          <a:p>
            <a:r>
              <a:rPr sz="1150" b="0">
                <a:solidFill>
                  <a:srgbClr val="9CDCFE"/>
                </a:solidFill>
                <a:latin typeface="Consolas"/>
                <a:ea typeface="Consolas"/>
              </a:rPr>
              <a:t>    .searchParams.get('code');</a:t>
            </a:r>
          </a:p>
          <a:p>
            <a:r>
              <a:rPr sz="1150" b="0">
                <a:solidFill>
                  <a:srgbClr val="9CDCFE"/>
                </a:solidFill>
                <a:latin typeface="Consolas"/>
                <a:ea typeface="Consolas"/>
              </a:rPr>
              <a:t>  const { data: d } = await supabase.auth</a:t>
            </a:r>
          </a:p>
          <a:p>
            <a:r>
              <a:rPr sz="1150" b="0">
                <a:solidFill>
                  <a:srgbClr val="9CDCFE"/>
                </a:solidFill>
                <a:latin typeface="Consolas"/>
                <a:ea typeface="Consolas"/>
              </a:rPr>
              <a:t>    .exchangeCodeForSession(code);  // PKCE</a:t>
            </a:r>
          </a:p>
          <a:p>
            <a:r>
              <a:rPr sz="1150" b="0">
                <a:solidFill>
                  <a:srgbClr val="9CDCFE"/>
                </a:solidFill>
                <a:latin typeface="Consolas"/>
                <a:ea typeface="Consolas"/>
              </a:rPr>
              <a:t>  session = d.session;</a:t>
            </a:r>
          </a:p>
          <a:p>
            <a:r>
              <a:rPr sz="1150" b="0">
                <a:solidFill>
                  <a:srgbClr val="9CDCFE"/>
                </a:solidFill>
                <a:latin typeface="Consolas"/>
                <a:ea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188720"/>
            <a:ext cx="5486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2E6DB5"/>
                </a:solidFill>
                <a:latin typeface="맑은 고딕"/>
                <a:ea typeface="맑은 고딕"/>
              </a:rPr>
              <a:t>백엔드 (jwt_utils.py)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00200"/>
            <a:ext cx="5212080" cy="2468880"/>
          </a:xfrm>
          <a:prstGeom prst="round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69164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CE9BFF"/>
                </a:solidFill>
                <a:latin typeface="Consolas"/>
                <a:ea typeface="Consolas"/>
              </a:rPr>
              <a:t>header = jwt.get_unverified_header(token)</a:t>
            </a:r>
          </a:p>
          <a:p>
            <a:r>
              <a:rPr sz="1150" b="0">
                <a:solidFill>
                  <a:srgbClr val="CE9BFF"/>
                </a:solidFill>
                <a:latin typeface="Consolas"/>
                <a:ea typeface="Consolas"/>
              </a:rPr>
              <a:t>alg = header['alg']   # ES256</a:t>
            </a:r>
          </a:p>
          <a:p>
            <a:r>
              <a:rPr sz="1150" b="0">
                <a:solidFill>
                  <a:srgbClr val="CE9BFF"/>
                </a:solidFill>
                <a:latin typeface="Consolas"/>
                <a:ea typeface="Consolas"/>
              </a:rPr>
              <a:t>kid = header['kid']</a:t>
            </a:r>
          </a:p>
          <a:p>
            <a:r>
              <a:rPr sz="1150" b="0">
                <a:solidFill>
                  <a:srgbClr val="CE9BFF"/>
                </a:solidFill>
                <a:latin typeface="Consolas"/>
                <a:ea typeface="Consolas"/>
              </a:rPr>
              <a:t> </a:t>
            </a:r>
          </a:p>
          <a:p>
            <a:r>
              <a:rPr sz="1150" b="0">
                <a:solidFill>
                  <a:srgbClr val="CE9BFF"/>
                </a:solidFill>
                <a:latin typeface="Consolas"/>
                <a:ea typeface="Consolas"/>
              </a:rPr>
              <a:t># JWKS를 httpx로 직접 fetch (+캐시)</a:t>
            </a:r>
          </a:p>
          <a:p>
            <a:r>
              <a:rPr sz="1150" b="0">
                <a:solidFill>
                  <a:srgbClr val="CE9BFF"/>
                </a:solidFill>
                <a:latin typeface="Consolas"/>
                <a:ea typeface="Consolas"/>
              </a:rPr>
              <a:t>public_key = _get_public_key(kid, alg)</a:t>
            </a:r>
          </a:p>
          <a:p>
            <a:r>
              <a:rPr sz="1150" b="0">
                <a:solidFill>
                  <a:srgbClr val="CE9BFF"/>
                </a:solidFill>
                <a:latin typeface="Consolas"/>
                <a:ea typeface="Consolas"/>
              </a:rPr>
              <a:t> </a:t>
            </a:r>
          </a:p>
          <a:p>
            <a:r>
              <a:rPr sz="1150" b="0">
                <a:solidFill>
                  <a:srgbClr val="CE9BFF"/>
                </a:solidFill>
                <a:latin typeface="Consolas"/>
                <a:ea typeface="Consolas"/>
              </a:rPr>
              <a:t>claims = jwt.decode(</a:t>
            </a:r>
          </a:p>
          <a:p>
            <a:r>
              <a:rPr sz="1150" b="0">
                <a:solidFill>
                  <a:srgbClr val="CE9BFF"/>
                </a:solidFill>
                <a:latin typeface="Consolas"/>
                <a:ea typeface="Consolas"/>
              </a:rPr>
              <a:t>  token, public_key, algorithms=[alg],</a:t>
            </a:r>
          </a:p>
          <a:p>
            <a:r>
              <a:rPr sz="1150" b="0">
                <a:solidFill>
                  <a:srgbClr val="CE9BFF"/>
                </a:solidFill>
                <a:latin typeface="Consolas"/>
                <a:ea typeface="Consolas"/>
              </a:rPr>
              <a:t>  audience='authenticated')</a:t>
            </a:r>
          </a:p>
          <a:p>
            <a:r>
              <a:rPr sz="1150" b="0">
                <a:solidFill>
                  <a:srgbClr val="CE9BFF"/>
                </a:solidFill>
                <a:latin typeface="Consolas"/>
                <a:ea typeface="Consolas"/>
              </a:rPr>
              <a:t>user_id = claims['sub']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297680"/>
            <a:ext cx="10881360" cy="1920240"/>
          </a:xfrm>
          <a:prstGeom prst="roundRect">
            <a:avLst/>
          </a:prstGeom>
          <a:solidFill>
            <a:srgbClr val="FFEBEB"/>
          </a:solidFill>
          <a:ln w="19050">
            <a:solidFill>
              <a:srgbClr val="D953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389120"/>
            <a:ext cx="10424160" cy="1828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B03030"/>
                </a:solidFill>
                <a:latin typeface="맑은 고딕"/>
                <a:ea typeface="맑은 고딕"/>
              </a:rPr>
              <a:t>⚠️  서버리스 환경 함정 (실제 디버깅 사례)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262626"/>
                </a:solidFill>
                <a:latin typeface="맑은 고딕"/>
                <a:ea typeface="맑은 고딕"/>
              </a:rPr>
              <a:t>• PyJWKClient는 내부 urllib 사용 → Vercel에서 'unknown url type: https' → httpx로 직접 fetch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262626"/>
                </a:solidFill>
                <a:latin typeface="맑은 고딕"/>
                <a:ea typeface="맑은 고딕"/>
              </a:rPr>
              <a:t>• 환경변수에 BOM(﻿)·공백·개행 → 'invalid IDNA hostname' / 'Invalid API key' → config.py validator가 utf-8-sig+strip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262626"/>
                </a:solidFill>
                <a:latin typeface="맑은 고딕"/>
                <a:ea typeface="맑은 고딕"/>
              </a:rPr>
              <a:t>• implicit 플로우(access_token)만 처리 시 PKCE 환경에서 토큰 null → 두 플로우 모두 처리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8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0515600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4. 백엔드 구조 (레이어드)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0"/>
            <a:ext cx="822960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>
              <a:spcAft>
                <a:spcPts val="200"/>
              </a:spcAft>
            </a:pPr>
            <a:r>
              <a:rPr sz="1600" b="1">
                <a:solidFill>
                  <a:srgbClr val="FFF2CC"/>
                </a:solidFill>
                <a:latin typeface="맑은 고딕"/>
                <a:ea typeface="맑은 고딕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972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404040"/>
                </a:solidFill>
                <a:latin typeface="맑은 고딕"/>
                <a:ea typeface="맑은 고딕"/>
              </a:rPr>
              <a:t>라우터는 얇게, 로직은 services/ — 모든 경로는 /api 프리픽스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645920"/>
          <a:ext cx="5486400" cy="3657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/>
                <a:gridCol w="338328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디렉터리</a:t>
                      </a:r>
                    </a:p>
                  </a:txBody>
                  <a:tcPr anchor="ctr" marL="63500" marR="63500" marT="25400" marB="25400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역할</a:t>
                      </a:r>
                    </a:p>
                  </a:txBody>
                  <a:tcPr anchor="ctr" marL="63500" marR="63500" marT="25400" marB="25400">
                    <a:solidFill>
                      <a:srgbClr val="4040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routers/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얇은 HTTP 핸들러 (8개)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services/</a:t>
                      </a:r>
                    </a:p>
                  </a:txBody>
                  <a:tcPr anchor="ctr" marL="63500" marR="63500" marT="25400" marB="254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비즈니스 로직</a:t>
                      </a:r>
                    </a:p>
                  </a:txBody>
                  <a:tcPr anchor="ctr" marL="63500" marR="63500" marT="25400" marB="25400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models/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Pydantic 모델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dependencies/</a:t>
                      </a:r>
                    </a:p>
                  </a:txBody>
                  <a:tcPr anchor="ctr" marL="63500" marR="63500" marT="25400" marB="254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auth(JWT) · permissions(역할)</a:t>
                      </a:r>
                    </a:p>
                  </a:txBody>
                  <a:tcPr anchor="ctr" marL="63500" marR="63500" marT="25400" marB="25400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utils/jwt_utils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ES256 JWKS 검증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utils/supabase_client</a:t>
                      </a:r>
                    </a:p>
                  </a:txBody>
                  <a:tcPr anchor="ctr" marL="63500" marR="63500" marT="25400" marB="254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service_role 클라이언트</a:t>
                      </a:r>
                    </a:p>
                  </a:txBody>
                  <a:tcPr anchor="ctr" marL="63500" marR="63500" marT="25400" marB="25400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utils/db.single()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maybe_single() 버그 우회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0" y="1645920"/>
            <a:ext cx="53035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C24E10"/>
                </a:solidFill>
                <a:latin typeface="맑은 고딕"/>
                <a:ea typeface="맑은 고딕"/>
              </a:rPr>
              <a:t>8개 라우터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0" y="2057400"/>
          <a:ext cx="5120640" cy="3703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4480"/>
                <a:gridCol w="356616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라우터</a:t>
                      </a:r>
                    </a:p>
                  </a:txBody>
                  <a:tcPr anchor="ctr" marL="63500" marR="63500" marT="25400" marB="25400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주요 엔드포인트</a:t>
                      </a:r>
                    </a:p>
                  </a:txBody>
                  <a:tcPr anchor="ctr" marL="63500" marR="63500" marT="25400" marB="25400">
                    <a:solidFill>
                      <a:srgbClr val="40404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auth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POST /api/auth/bootstrap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profiles</a:t>
                      </a:r>
                    </a:p>
                  </a:txBody>
                  <a:tcPr anchor="ctr" marL="63500" marR="63500" marT="25400" marB="254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GET/PATCH me, handle, push_token</a:t>
                      </a:r>
                    </a:p>
                  </a:txBody>
                  <a:tcPr anchor="ctr" marL="63500" marR="63500" marT="25400" marB="25400"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invites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초대 코드 생성/수락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friendships</a:t>
                      </a:r>
                    </a:p>
                  </a:txBody>
                  <a:tcPr anchor="ctr" marL="63500" marR="63500" marT="25400" marB="254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친구 목록/추가</a:t>
                      </a:r>
                    </a:p>
                  </a:txBody>
                  <a:tcPr anchor="ctr" marL="63500" marR="63500" marT="25400" marB="25400"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groups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그룹 CRUD, 멤버/역할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meetups</a:t>
                      </a:r>
                    </a:p>
                  </a:txBody>
                  <a:tcPr anchor="ctr" marL="63500" marR="63500" marT="25400" marB="254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약속 CRUD, 참여자</a:t>
                      </a:r>
                    </a:p>
                  </a:txBody>
                  <a:tcPr anchor="ctr" marL="63500" marR="63500" marT="25400" marB="25400"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reminders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약속별 개인 알림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chat</a:t>
                      </a:r>
                    </a:p>
                  </a:txBody>
                  <a:tcPr anchor="ctr" marL="63500" marR="63500" marT="25400" marB="254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채팅방/메시지</a:t>
                      </a:r>
                    </a:p>
                  </a:txBody>
                  <a:tcPr anchor="ctr" marL="63500" marR="63500" marT="25400" marB="2540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40080" y="5669280"/>
            <a:ext cx="10881360" cy="777240"/>
          </a:xfrm>
          <a:prstGeom prst="roundRect">
            <a:avLst/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760720"/>
            <a:ext cx="1042416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C24E10"/>
                </a:solidFill>
                <a:latin typeface="맑은 고딕"/>
                <a:ea typeface="맑은 고딕"/>
              </a:rPr>
              <a:t>백엔드는 service_role 키로 접속 → RLS 우회 → 권한 검증을 코드에서 직접 수행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8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0515600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5. 데이터 모델 &amp; 보안(RLS)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0"/>
            <a:ext cx="822960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>
              <a:spcAft>
                <a:spcPts val="200"/>
              </a:spcAft>
            </a:pPr>
            <a:r>
              <a:rPr sz="1600" b="1">
                <a:solidFill>
                  <a:srgbClr val="FFF2CC"/>
                </a:solidFill>
                <a:latin typeface="맑은 고딕"/>
                <a:ea typeface="맑은 고딕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5486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C24E10"/>
                </a:solidFill>
                <a:latin typeface="맑은 고딕"/>
                <a:ea typeface="맑은 고딕"/>
              </a:rPr>
              <a:t>핵심 테이블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554480"/>
          <a:ext cx="5486400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3108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테이블</a:t>
                      </a:r>
                    </a:p>
                  </a:txBody>
                  <a:tcPr anchor="ctr" marL="63500" marR="63500" marT="25400" marB="25400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용도</a:t>
                      </a:r>
                    </a:p>
                  </a:txBody>
                  <a:tcPr anchor="ctr" marL="63500" marR="63500" marT="25400" marB="25400">
                    <a:solidFill>
                      <a:srgbClr val="40404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profiles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사용자 (handle, push_token)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friendships</a:t>
                      </a:r>
                    </a:p>
                  </a:txBody>
                  <a:tcPr anchor="ctr" marL="63500" marR="63500" marT="25400" marB="254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양방향 친구 (정규화)</a:t>
                      </a:r>
                    </a:p>
                  </a:txBody>
                  <a:tcPr anchor="ctr" marL="63500" marR="63500" marT="25400" marB="25400"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invites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초대 코드 (8자, 7일)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groups / group_members</a:t>
                      </a:r>
                    </a:p>
                  </a:txBody>
                  <a:tcPr anchor="ctr" marL="63500" marR="63500" marT="25400" marB="254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그룹 + 역할</a:t>
                      </a:r>
                    </a:p>
                  </a:txBody>
                  <a:tcPr anchor="ctr" marL="63500" marR="63500" marT="25400" marB="25400"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meetups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약속 (NULL=1회성)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meetup_participants</a:t>
                      </a:r>
                    </a:p>
                  </a:txBody>
                  <a:tcPr anchor="ctr" marL="63500" marR="63500" marT="25400" marB="254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참여자 (위치공유 토글)</a:t>
                      </a:r>
                    </a:p>
                  </a:txBody>
                  <a:tcPr anchor="ctr" marL="63500" marR="63500" marT="25400" marB="25400"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chat_rooms / messages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채팅 (soft delete)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location_pings</a:t>
                      </a:r>
                    </a:p>
                  </a:txBody>
                  <a:tcPr anchor="ctr" marL="63500" marR="63500" marT="25400" marB="254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위치 핑 (24h TTL)</a:t>
                      </a:r>
                    </a:p>
                  </a:txBody>
                  <a:tcPr anchor="ctr" marL="63500" marR="63500" marT="25400" marB="2540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0" y="1143000"/>
            <a:ext cx="5486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3C8C4E"/>
                </a:solidFill>
                <a:latin typeface="맑은 고딕"/>
                <a:ea typeface="맑은 고딕"/>
              </a:rPr>
              <a:t>RLS 정책 요지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0" y="1554480"/>
          <a:ext cx="5120640" cy="3017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329184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테이블</a:t>
                      </a:r>
                    </a:p>
                  </a:txBody>
                  <a:tcPr anchor="ctr" marL="63500" marR="63500" marT="25400" marB="25400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SELECT 대상</a:t>
                      </a:r>
                    </a:p>
                  </a:txBody>
                  <a:tcPr anchor="ctr" marL="63500" marR="63500" marT="25400" marB="25400">
                    <a:solidFill>
                      <a:srgbClr val="4040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profiles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본인 + 같은 그룹/약속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groups</a:t>
                      </a:r>
                    </a:p>
                  </a:txBody>
                  <a:tcPr anchor="ctr" marL="63500" marR="63500" marT="25400" marB="254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그룹 멤버</a:t>
                      </a:r>
                    </a:p>
                  </a:txBody>
                  <a:tcPr anchor="ctr" marL="63500" marR="63500" marT="25400" marB="25400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meetups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참여자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messages</a:t>
                      </a:r>
                    </a:p>
                  </a:txBody>
                  <a:tcPr anchor="ctr" marL="63500" marR="63500" marT="25400" marB="254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해당 방 멤버</a:t>
                      </a:r>
                    </a:p>
                  </a:txBody>
                  <a:tcPr anchor="ctr" marL="63500" marR="63500" marT="25400" marB="25400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location_pings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같은 약속 참여자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0" y="4572000"/>
            <a:ext cx="5120640" cy="1463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262626"/>
                </a:solidFill>
                <a:latin typeface="맑은 고딕"/>
                <a:ea typeface="맑은 고딕"/>
              </a:rPr>
              <a:t>• 쓰기는 백엔드(service_role)가 검증 후 수행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262626"/>
                </a:solidFill>
                <a:latin typeface="맑은 고딕"/>
                <a:ea typeface="맑은 고딕"/>
              </a:rPr>
              <a:t>• 직결 읽기·실시간은 RLS가 행 단위 보호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262626"/>
                </a:solidFill>
                <a:latin typeface="맑은 고딕"/>
                <a:ea typeface="맑은 고딕"/>
              </a:rPr>
              <a:t>• 마이그레이션 009_rls_policies.sql이 정책 본문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8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0515600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6. 핵심 기능 동작 원리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0"/>
            <a:ext cx="822960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>
              <a:spcAft>
                <a:spcPts val="200"/>
              </a:spcAft>
            </a:pPr>
            <a:r>
              <a:rPr sz="1600" b="1">
                <a:solidFill>
                  <a:srgbClr val="FFF2CC"/>
                </a:solidFill>
                <a:latin typeface="맑은 고딕"/>
                <a:ea typeface="맑은 고딕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3611880" cy="548640"/>
          </a:xfrm>
          <a:prstGeom prst="roundRect">
            <a:avLst/>
          </a:prstGeom>
          <a:solidFill>
            <a:srgbClr val="E8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361188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📍 실시간 위치 공유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3611880" cy="320040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0240" y="2148840"/>
            <a:ext cx="3383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800"/>
              </a:spcAft>
            </a:pPr>
            <a:r>
              <a:rPr sz="1200" b="0">
                <a:solidFill>
                  <a:srgbClr val="262626"/>
                </a:solidFill>
                <a:latin typeface="맑은 고딕"/>
                <a:ea typeface="맑은 고딕"/>
              </a:rPr>
              <a:t>•  약속 시작 N분 전 자동 ON</a:t>
            </a:r>
          </a:p>
          <a:p>
            <a:pPr lvl="1">
              <a:spcAft>
                <a:spcPts val="800"/>
              </a:spcAft>
            </a:pPr>
            <a:r>
              <a:rPr sz="1200" b="0">
                <a:solidFill>
                  <a:srgbClr val="262626"/>
                </a:solidFill>
                <a:latin typeface="맑은 고딕"/>
                <a:ea typeface="맑은 고딕"/>
              </a:rPr>
              <a:t>•  expo-task-manager 백그라운드</a:t>
            </a:r>
          </a:p>
          <a:p>
            <a:pPr lvl="1">
              <a:spcAft>
                <a:spcPts val="800"/>
              </a:spcAft>
            </a:pPr>
            <a:r>
              <a:rPr sz="1200" b="0">
                <a:solidFill>
                  <a:srgbClr val="262626"/>
                </a:solidFill>
                <a:latin typeface="맑은 고딕"/>
                <a:ea typeface="맑은 고딕"/>
              </a:rPr>
              <a:t>•  10초 간격 location_pings INSERT</a:t>
            </a:r>
          </a:p>
          <a:p>
            <a:pPr lvl="1">
              <a:spcAft>
                <a:spcPts val="800"/>
              </a:spcAft>
            </a:pPr>
            <a:r>
              <a:rPr sz="1200" b="0">
                <a:solidFill>
                  <a:srgbClr val="262626"/>
                </a:solidFill>
                <a:latin typeface="맑은 고딕"/>
                <a:ea typeface="맑은 고딕"/>
              </a:rPr>
              <a:t>•  타 참여자는 Realtime으로 핀 갱신</a:t>
            </a:r>
          </a:p>
          <a:p>
            <a:pPr lvl="1">
              <a:spcAft>
                <a:spcPts val="800"/>
              </a:spcAft>
            </a:pPr>
            <a:r>
              <a:rPr sz="1200" b="0">
                <a:solidFill>
                  <a:srgbClr val="262626"/>
                </a:solidFill>
                <a:latin typeface="맑은 고딕"/>
                <a:ea typeface="맑은 고딕"/>
              </a:rPr>
              <a:t>•  종료 시 자동 OFF · 24h 후 삭제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325880"/>
            <a:ext cx="3611880" cy="548640"/>
          </a:xfrm>
          <a:prstGeom prst="roundRect">
            <a:avLst/>
          </a:prstGeom>
          <a:solidFill>
            <a:srgbClr val="2E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325880"/>
            <a:ext cx="361188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💬 채팅 (Realtime)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965960"/>
            <a:ext cx="3611880" cy="320040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45000" y="2148840"/>
            <a:ext cx="3383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800"/>
              </a:spcAft>
            </a:pPr>
            <a:r>
              <a:rPr sz="1200" b="0">
                <a:solidFill>
                  <a:srgbClr val="262626"/>
                </a:solidFill>
                <a:latin typeface="맑은 고딕"/>
                <a:ea typeface="맑은 고딕"/>
              </a:rPr>
              <a:t>•  전송: 백엔드 경유(권한 검증)</a:t>
            </a:r>
          </a:p>
          <a:p>
            <a:pPr lvl="1">
              <a:spcAft>
                <a:spcPts val="800"/>
              </a:spcAft>
            </a:pPr>
            <a:r>
              <a:rPr sz="1200" b="0">
                <a:solidFill>
                  <a:srgbClr val="262626"/>
                </a:solidFill>
                <a:latin typeface="맑은 고딕"/>
                <a:ea typeface="맑은 고딕"/>
              </a:rPr>
              <a:t>•  수신: Supabase 직접 구독</a:t>
            </a:r>
          </a:p>
          <a:p>
            <a:pPr lvl="1">
              <a:spcAft>
                <a:spcPts val="800"/>
              </a:spcAft>
            </a:pPr>
            <a:r>
              <a:rPr sz="1200" b="0">
                <a:solidFill>
                  <a:srgbClr val="262626"/>
                </a:solidFill>
                <a:latin typeface="맑은 고딕"/>
                <a:ea typeface="맑은 고딕"/>
              </a:rPr>
              <a:t>•  텍스트/이미지/장소/시스템</a:t>
            </a:r>
          </a:p>
          <a:p>
            <a:pPr lvl="1">
              <a:spcAft>
                <a:spcPts val="800"/>
              </a:spcAft>
            </a:pPr>
            <a:r>
              <a:rPr sz="1200" b="0">
                <a:solidFill>
                  <a:srgbClr val="262626"/>
                </a:solidFill>
                <a:latin typeface="맑은 고딕"/>
                <a:ea typeface="맑은 고딕"/>
              </a:rPr>
              <a:t>•  이미지: arrayBuffer 직접 업로드</a:t>
            </a:r>
          </a:p>
          <a:p>
            <a:pPr lvl="1">
              <a:spcAft>
                <a:spcPts val="800"/>
              </a:spcAft>
            </a:pPr>
            <a:r>
              <a:rPr sz="1200" b="0">
                <a:solidFill>
                  <a:srgbClr val="262626"/>
                </a:solidFill>
                <a:latin typeface="맑은 고딕"/>
                <a:ea typeface="맑은 고딕"/>
              </a:rPr>
              <a:t>•  약속 종료 시 채팅방 아카이브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325880"/>
            <a:ext cx="3611880" cy="548640"/>
          </a:xfrm>
          <a:prstGeom prst="roundRect">
            <a:avLst/>
          </a:prstGeom>
          <a:solidFill>
            <a:srgbClr val="3C8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1325880"/>
            <a:ext cx="361188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🔔 푸시 알림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965960"/>
            <a:ext cx="3611880" cy="320040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39760" y="2148840"/>
            <a:ext cx="3383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800"/>
              </a:spcAft>
            </a:pPr>
            <a:r>
              <a:rPr sz="1200" b="0">
                <a:solidFill>
                  <a:srgbClr val="262626"/>
                </a:solidFill>
                <a:latin typeface="맑은 고딕"/>
                <a:ea typeface="맑은 고딕"/>
              </a:rPr>
              <a:t>•  pg_cron 매분 실행</a:t>
            </a:r>
          </a:p>
          <a:p>
            <a:pPr lvl="1">
              <a:spcAft>
                <a:spcPts val="800"/>
              </a:spcAft>
            </a:pPr>
            <a:r>
              <a:rPr sz="1200" b="0">
                <a:solidFill>
                  <a:srgbClr val="262626"/>
                </a:solidFill>
                <a:latin typeface="맑은 고딕"/>
                <a:ea typeface="맑은 고딕"/>
              </a:rPr>
              <a:t>•  pg_net → push-worker 호출</a:t>
            </a:r>
          </a:p>
          <a:p>
            <a:pPr lvl="1">
              <a:spcAft>
                <a:spcPts val="800"/>
              </a:spcAft>
            </a:pPr>
            <a:r>
              <a:rPr sz="1200" b="0">
                <a:solidFill>
                  <a:srgbClr val="262626"/>
                </a:solidFill>
                <a:latin typeface="맑은 고딕"/>
                <a:ea typeface="맑은 고딕"/>
              </a:rPr>
              <a:t>•  notify_at 도래분 조회(최대 200)</a:t>
            </a:r>
          </a:p>
          <a:p>
            <a:pPr lvl="1">
              <a:spcAft>
                <a:spcPts val="800"/>
              </a:spcAft>
            </a:pPr>
            <a:r>
              <a:rPr sz="1200" b="0">
                <a:solidFill>
                  <a:srgbClr val="262626"/>
                </a:solidFill>
                <a:latin typeface="맑은 고딕"/>
                <a:ea typeface="맑은 고딕"/>
              </a:rPr>
              <a:t>•  Expo Push 100개씩 배치 발송</a:t>
            </a:r>
          </a:p>
          <a:p>
            <a:pPr lvl="1">
              <a:spcAft>
                <a:spcPts val="800"/>
              </a:spcAft>
            </a:pPr>
            <a:r>
              <a:rPr sz="1200" b="0">
                <a:solidFill>
                  <a:srgbClr val="262626"/>
                </a:solidFill>
                <a:latin typeface="맑은 고딕"/>
                <a:ea typeface="맑은 고딕"/>
              </a:rPr>
              <a:t>•  발송 완료 행 삭제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394960"/>
            <a:ext cx="11064240" cy="868680"/>
          </a:xfrm>
          <a:prstGeom prst="roundRect">
            <a:avLst/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486400"/>
            <a:ext cx="1060704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C24E10"/>
                </a:solidFill>
                <a:latin typeface="맑은 고딕"/>
                <a:ea typeface="맑은 고딕"/>
              </a:rPr>
              <a:t>⚠️ Expo Go(SDK 53+)는 원격 푸시·백그라운드 위치 제한 → 실제 테스트는 EAS Build(TestFlight/APK)에서만 가능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8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0515600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7. Supabase — 역할 &amp; 설정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0"/>
            <a:ext cx="822960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>
              <a:spcAft>
                <a:spcPts val="200"/>
              </a:spcAft>
            </a:pPr>
            <a:r>
              <a:rPr sz="1600" b="1">
                <a:solidFill>
                  <a:srgbClr val="FFF2CC"/>
                </a:solidFill>
                <a:latin typeface="맑은 고딕"/>
                <a:ea typeface="맑은 고딕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10881360" cy="548640"/>
          </a:xfrm>
          <a:prstGeom prst="roundRect">
            <a:avLst/>
          </a:prstGeom>
          <a:solidFill>
            <a:srgbClr val="3C8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188720"/>
            <a:ext cx="105156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역할: 데이터·인증·실시간 중심축 (Single Source of Truth)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920240"/>
          <a:ext cx="5394960" cy="3200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/>
                <a:gridCol w="338328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기능</a:t>
                      </a:r>
                    </a:p>
                  </a:txBody>
                  <a:tcPr anchor="ctr" marL="63500" marR="63500" marT="25400" marB="25400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설명</a:t>
                      </a:r>
                    </a:p>
                  </a:txBody>
                  <a:tcPr anchor="ctr" marL="63500" marR="63500" marT="25400" marB="25400">
                    <a:solidFill>
                      <a:srgbClr val="4040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PostgreSQL + RLS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데이터 저장 · 행 단위 보호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Auth (OAuth)</a:t>
                      </a:r>
                    </a:p>
                  </a:txBody>
                  <a:tcPr anchor="ctr" marL="63500" marR="63500" marT="25400" marB="254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Google 위임 · ES256 JWT</a:t>
                      </a:r>
                    </a:p>
                  </a:txBody>
                  <a:tcPr anchor="ctr" marL="63500" marR="63500" marT="25400" marB="25400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Realtime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채팅·위치 WS 구독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Storage</a:t>
                      </a:r>
                    </a:p>
                  </a:txBody>
                  <a:tcPr anchor="ctr" marL="63500" marR="63500" marT="25400" marB="254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채팅 이미지 버킷</a:t>
                      </a:r>
                    </a:p>
                  </a:txBody>
                  <a:tcPr anchor="ctr" marL="63500" marR="63500" marT="25400" marB="25400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Edge Function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push-worker 알림 발송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pg_cron + pg_net</a:t>
                      </a:r>
                    </a:p>
                  </a:txBody>
                  <a:tcPr anchor="ctr" marL="63500" marR="63500" marT="25400" marB="254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매분 백그라운드 작업</a:t>
                      </a:r>
                    </a:p>
                  </a:txBody>
                  <a:tcPr anchor="ctr" marL="63500" marR="63500" marT="25400" marB="2540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09360" y="1920240"/>
            <a:ext cx="5486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3C8C4E"/>
                </a:solidFill>
                <a:latin typeface="맑은 고딕"/>
                <a:ea typeface="맑은 고딕"/>
              </a:rPr>
              <a:t>설정 체크리스트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33172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900"/>
              </a:spcAft>
            </a:pPr>
            <a:r>
              <a:rPr sz="1200" b="0">
                <a:solidFill>
                  <a:srgbClr val="262626"/>
                </a:solidFill>
                <a:latin typeface="맑은 고딕"/>
                <a:ea typeface="맑은 고딕"/>
              </a:rPr>
              <a:t>•  Providers → Google 활성화 (Client ID/Secret)</a:t>
            </a:r>
          </a:p>
          <a:p>
            <a:pPr lvl="1">
              <a:spcAft>
                <a:spcPts val="900"/>
              </a:spcAft>
            </a:pPr>
            <a:r>
              <a:rPr sz="1200" b="1">
                <a:solidFill>
                  <a:srgbClr val="B03030"/>
                </a:solidFill>
                <a:latin typeface="맑은 고딕"/>
                <a:ea typeface="맑은 고딕"/>
              </a:rPr>
              <a:t>•  Redirect URLs: meetpod://auth-callback 필수</a:t>
            </a:r>
          </a:p>
          <a:p>
            <a:pPr lvl="1">
              <a:spcAft>
                <a:spcPts val="900"/>
              </a:spcAft>
            </a:pPr>
            <a:r>
              <a:rPr sz="1200" b="0">
                <a:solidFill>
                  <a:srgbClr val="262626"/>
                </a:solidFill>
                <a:latin typeface="맑은 고딕"/>
                <a:ea typeface="맑은 고딕"/>
              </a:rPr>
              <a:t>•  마이그레이션 001~013 순서 적용</a:t>
            </a:r>
          </a:p>
          <a:p>
            <a:pPr lvl="2">
              <a:spcAft>
                <a:spcPts val="900"/>
              </a:spcAft>
            </a:pPr>
            <a:r>
              <a:rPr sz="1100" b="0">
                <a:solidFill>
                  <a:srgbClr val="404040"/>
                </a:solidFill>
                <a:latin typeface="맑은 고딕"/>
                <a:ea typeface="맑은 고딕"/>
              </a:rPr>
              <a:t>–  009 = RLS 정책 / 010 = Realtime publication</a:t>
            </a:r>
          </a:p>
          <a:p>
            <a:pPr lvl="2">
              <a:spcAft>
                <a:spcPts val="900"/>
              </a:spcAft>
            </a:pPr>
            <a:r>
              <a:rPr sz="1100" b="0">
                <a:solidFill>
                  <a:srgbClr val="404040"/>
                </a:solidFill>
                <a:latin typeface="맑은 고딕"/>
                <a:ea typeface="맑은 고딕"/>
              </a:rPr>
              <a:t>–  011~013 = cron + push-worker</a:t>
            </a:r>
          </a:p>
          <a:p>
            <a:pPr lvl="1">
              <a:spcAft>
                <a:spcPts val="900"/>
              </a:spcAft>
            </a:pPr>
            <a:r>
              <a:rPr sz="1200" b="0">
                <a:solidFill>
                  <a:srgbClr val="262626"/>
                </a:solidFill>
                <a:latin typeface="맑은 고딕"/>
                <a:ea typeface="맑은 고딕"/>
              </a:rPr>
              <a:t>•  cron: 상태전환(매분)·위치정리(매시)·푸시(매분)</a:t>
            </a:r>
          </a:p>
          <a:p>
            <a:pPr lvl="1">
              <a:spcAft>
                <a:spcPts val="900"/>
              </a:spcAft>
            </a:pPr>
            <a:r>
              <a:rPr sz="1200" b="0">
                <a:solidFill>
                  <a:srgbClr val="262626"/>
                </a:solidFill>
                <a:latin typeface="맑은 고딕"/>
                <a:ea typeface="맑은 고딕"/>
              </a:rPr>
              <a:t>•  Project Ref: pogblwrknxxufckdfwaa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5440680"/>
            <a:ext cx="5212080" cy="868680"/>
          </a:xfrm>
          <a:prstGeom prst="roundRect">
            <a:avLst/>
          </a:prstGeom>
          <a:solidFill>
            <a:srgbClr val="FF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5486400"/>
            <a:ext cx="484632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262626"/>
                </a:solidFill>
                <a:latin typeface="맑은 고딕"/>
                <a:ea typeface="맑은 고딕"/>
              </a:rPr>
              <a:t>⚠️ postgres 롤은 ALTER DATABASE 불가 → 013에서 push-worker 시크릿 하드코딩 + GUC fallback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8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0515600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7. Vercel — 역할 &amp; 설정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0"/>
            <a:ext cx="822960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>
              <a:spcAft>
                <a:spcPts val="200"/>
              </a:spcAft>
            </a:pPr>
            <a:r>
              <a:rPr sz="1600" b="1">
                <a:solidFill>
                  <a:srgbClr val="FFF2CC"/>
                </a:solidFill>
                <a:latin typeface="맑은 고딕"/>
                <a:ea typeface="맑은 고딕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10881360" cy="548640"/>
          </a:xfrm>
          <a:prstGeom prst="roundRect">
            <a:avLst/>
          </a:prstGeom>
          <a:solidFill>
            <a:srgbClr val="2E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188720"/>
            <a:ext cx="105156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역할: FastAPI 백엔드를 서버리스로 호스팅 (중계·검증 계층, Stateless)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5486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E6DB5"/>
                </a:solidFill>
                <a:latin typeface="맑은 고딕"/>
                <a:ea typeface="맑은 고딕"/>
              </a:rPr>
              <a:t>FastAPI → 서버리스 변환 (Mangum)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286000"/>
            <a:ext cx="5394960" cy="1371600"/>
          </a:xfrm>
          <a:prstGeom prst="round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395728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CDCFE"/>
                </a:solidFill>
                <a:latin typeface="Consolas"/>
                <a:ea typeface="Consolas"/>
              </a:rPr>
              <a:t># api/index.py</a:t>
            </a:r>
          </a:p>
          <a:p>
            <a:r>
              <a:rPr sz="1200" b="0">
                <a:solidFill>
                  <a:srgbClr val="9CDCFE"/>
                </a:solidFill>
                <a:latin typeface="Consolas"/>
                <a:ea typeface="Consolas"/>
              </a:rPr>
              <a:t>from mangum import Mangum</a:t>
            </a:r>
          </a:p>
          <a:p>
            <a:r>
              <a:rPr sz="1200" b="0">
                <a:solidFill>
                  <a:srgbClr val="9CDCFE"/>
                </a:solidFill>
                <a:latin typeface="Consolas"/>
                <a:ea typeface="Consolas"/>
              </a:rPr>
              <a:t>from app.main import app</a:t>
            </a:r>
          </a:p>
          <a:p>
            <a:r>
              <a:rPr sz="1200" b="0">
                <a:solidFill>
                  <a:srgbClr val="9CDCFE"/>
                </a:solidFill>
                <a:latin typeface="Consolas"/>
                <a:ea typeface="Consolas"/>
              </a:rPr>
              <a:t>handler = Mangum(app, lifespan='off')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94760"/>
            <a:ext cx="539496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262626"/>
                </a:solidFill>
                <a:latin typeface="맑은 고딕"/>
                <a:ea typeface="맑은 고딕"/>
              </a:rPr>
              <a:t>vercel.json이 모든 경로를 api/index.py로 라우팅.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404040"/>
                </a:solidFill>
                <a:latin typeface="맑은 고딕"/>
                <a:ea typeface="맑은 고딕"/>
              </a:rPr>
              <a:t>코드 수정은 app/ 에서 — api/index.py는 진입점.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920240"/>
            <a:ext cx="5486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E6DB5"/>
                </a:solidFill>
                <a:latin typeface="맑은 고딕"/>
                <a:ea typeface="맑은 고딕"/>
              </a:rPr>
              <a:t>프로젝트 &amp; 환경변수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309360" y="2286000"/>
          <a:ext cx="5212079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3040"/>
                <a:gridCol w="3749039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항목</a:t>
                      </a:r>
                    </a:p>
                  </a:txBody>
                  <a:tcPr anchor="ctr" marL="63500" marR="63500" marT="25400" marB="25400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값</a:t>
                      </a:r>
                    </a:p>
                  </a:txBody>
                  <a:tcPr anchor="ctr" marL="63500" marR="63500" marT="25400" marB="25400">
                    <a:solidFill>
                      <a:srgbClr val="4040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프로젝트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meetpod_backend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도메인</a:t>
                      </a:r>
                    </a:p>
                  </a:txBody>
                  <a:tcPr anchor="ctr" marL="63500" marR="63500" marT="25400" marB="254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backend-ochre-six-23.vercel.app</a:t>
                      </a:r>
                    </a:p>
                  </a:txBody>
                  <a:tcPr anchor="ctr" marL="63500" marR="63500" marT="25400" marB="25400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런타임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Python 3.12 서버리스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env</a:t>
                      </a:r>
                    </a:p>
                  </a:txBody>
                  <a:tcPr anchor="ctr" marL="63500" marR="63500" marT="25400" marB="254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SUPABASE_URL / SERVICE_KEY</a:t>
                      </a:r>
                    </a:p>
                  </a:txBody>
                  <a:tcPr anchor="ctr" marL="63500" marR="63500" marT="25400" marB="25400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env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JWT_SECRET / FRONTEND_URL / ENV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640080" y="5029200"/>
            <a:ext cx="5394960" cy="1280160"/>
          </a:xfrm>
          <a:prstGeom prst="roundRect">
            <a:avLst/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120640"/>
            <a:ext cx="5029200" cy="1143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C24E10"/>
                </a:solidFill>
                <a:latin typeface="맑은 고딕"/>
                <a:ea typeface="맑은 고딕"/>
              </a:rPr>
              <a:t>배포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262626"/>
                </a:solidFill>
                <a:latin typeface="맑은 고딕"/>
                <a:ea typeface="맑은 고딕"/>
              </a:rPr>
              <a:t>vercel --prod --yes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404040"/>
                </a:solidFill>
                <a:latin typeface="맑은 고딕"/>
                <a:ea typeface="맑은 고딕"/>
              </a:rPr>
              <a:t>→ 안정 도메인 자동 alias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404040"/>
                </a:solidFill>
                <a:latin typeface="맑은 고딕"/>
                <a:ea typeface="맑은 고딕"/>
              </a:rPr>
              <a:t>헬스체크: GET /api/healthz → {ok:true}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5029200"/>
            <a:ext cx="5212080" cy="1280160"/>
          </a:xfrm>
          <a:prstGeom prst="roundRect">
            <a:avLst/>
          </a:prstGeom>
          <a:solidFill>
            <a:srgbClr val="FF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5120640"/>
            <a:ext cx="4846320" cy="1143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B03030"/>
                </a:solidFill>
                <a:latin typeface="맑은 고딕"/>
                <a:ea typeface="맑은 고딕"/>
              </a:rPr>
              <a:t>⚠️ 환경변수 입력 주의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62626"/>
                </a:solidFill>
                <a:latin typeface="맑은 고딕"/>
                <a:ea typeface="맑은 고딕"/>
              </a:rPr>
              <a:t>복붙 시 BOM·공백·개행 혼입 → Invalid API key.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62626"/>
                </a:solidFill>
                <a:latin typeface="맑은 고딕"/>
                <a:ea typeface="맑은 고딕"/>
              </a:rPr>
              <a:t>의심되면 삭제 후 직접 타이핑.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8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0515600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8. 배포 구성 &amp; 요청 흐름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0"/>
            <a:ext cx="822960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>
              <a:spcAft>
                <a:spcPts val="200"/>
              </a:spcAft>
            </a:pPr>
            <a:r>
              <a:rPr sz="1600" b="1">
                <a:solidFill>
                  <a:srgbClr val="FFF2CC"/>
                </a:solidFill>
                <a:latin typeface="맑은 고딕"/>
                <a:ea typeface="맑은 고딕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972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C24E10"/>
                </a:solidFill>
                <a:latin typeface="맑은 고딕"/>
                <a:ea typeface="맑은 고딕"/>
              </a:rPr>
              <a:t>요청 한 건의 여정 (쓰기)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554480"/>
            <a:ext cx="2286000" cy="868680"/>
          </a:xfrm>
          <a:prstGeom prst="roundRect">
            <a:avLst/>
          </a:prstGeom>
          <a:solidFill>
            <a:srgbClr val="E8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2286000" cy="8686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📱 모바일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27248" y="1828800"/>
            <a:ext cx="457200" cy="292608"/>
          </a:xfrm>
          <a:prstGeom prst="rightArrow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11879" y="1554480"/>
            <a:ext cx="2286000" cy="868680"/>
          </a:xfrm>
          <a:prstGeom prst="roundRect">
            <a:avLst/>
          </a:prstGeom>
          <a:solidFill>
            <a:srgbClr val="2E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79" y="1554480"/>
            <a:ext cx="2286000" cy="8686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☁️ Vercel
FastAPI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16167" y="1828800"/>
            <a:ext cx="457200" cy="292608"/>
          </a:xfrm>
          <a:prstGeom prst="rightArrow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0" y="1554480"/>
            <a:ext cx="2286000" cy="868680"/>
          </a:xfrm>
          <a:prstGeom prst="roundRect">
            <a:avLst/>
          </a:prstGeom>
          <a:solidFill>
            <a:srgbClr val="3C8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554480"/>
            <a:ext cx="2286000" cy="8686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🟢 Supabase Auth
JWKS 검증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705088" y="1828800"/>
            <a:ext cx="457200" cy="292608"/>
          </a:xfrm>
          <a:prstGeom prst="rightArrow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89719" y="1554480"/>
            <a:ext cx="2286000" cy="868680"/>
          </a:xfrm>
          <a:prstGeom prst="roundRect">
            <a:avLst/>
          </a:prstGeom>
          <a:solidFill>
            <a:srgbClr val="3C8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9719" y="1554480"/>
            <a:ext cx="2286000" cy="8686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🟢 Supabase DB
service_role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514600"/>
            <a:ext cx="105156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404040"/>
                </a:solidFill>
                <a:latin typeface="맑은 고딕"/>
                <a:ea typeface="맑은 고딕"/>
              </a:rPr>
              <a:t>읽기·실시간은 모바일 → Supabase 직결 (RLS 보호)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40080" y="3108960"/>
          <a:ext cx="1088136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/>
                <a:gridCol w="4114800"/>
                <a:gridCol w="448056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구성 요소</a:t>
                      </a:r>
                    </a:p>
                  </a:txBody>
                  <a:tcPr anchor="ctr" marL="63500" marR="63500" marT="25400" marB="25400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배포 위치</a:t>
                      </a:r>
                    </a:p>
                  </a:txBody>
                  <a:tcPr anchor="ctr" marL="63500" marR="63500" marT="25400" marB="25400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비고</a:t>
                      </a:r>
                    </a:p>
                  </a:txBody>
                  <a:tcPr anchor="ctr" marL="63500" marR="63500" marT="25400" marB="25400">
                    <a:solidFill>
                      <a:srgbClr val="4040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백엔드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Vercel: meetpod_backend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vercel --prod --yes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모바일 iOS</a:t>
                      </a:r>
                    </a:p>
                  </a:txBody>
                  <a:tcPr anchor="ctr" marL="63500" marR="63500" marT="25400" marB="254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EAS Build → TestFlight</a:t>
                      </a:r>
                    </a:p>
                  </a:txBody>
                  <a:tcPr anchor="ctr" marL="63500" marR="63500" marT="25400" marB="254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eas build -p ios / submit</a:t>
                      </a:r>
                    </a:p>
                  </a:txBody>
                  <a:tcPr anchor="ctr" marL="63500" marR="63500" marT="25400" marB="25400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모바일 Android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EAS Build → APK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eas build -p android (preview)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DB·인증·실시간</a:t>
                      </a:r>
                    </a:p>
                  </a:txBody>
                  <a:tcPr anchor="ctr" marL="63500" marR="63500" marT="25400" marB="254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Supabase pogblwrknxxufckdfwaa</a:t>
                      </a:r>
                    </a:p>
                  </a:txBody>
                  <a:tcPr anchor="ctr" marL="63500" marR="63500" marT="25400" marB="254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supabase db push</a:t>
                      </a:r>
                    </a:p>
                  </a:txBody>
                  <a:tcPr anchor="ctr" marL="63500" marR="63500" marT="25400" marB="25400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푸시 워커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Edge Function push-worker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pg_cron 매분 호출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640080" y="5760720"/>
            <a:ext cx="10881360" cy="7772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833872"/>
            <a:ext cx="1042416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262626"/>
                </a:solidFill>
                <a:latin typeface="맑은 고딕"/>
                <a:ea typeface="맑은 고딕"/>
              </a:rPr>
              <a:t>iOS: Bundle com.cpkworks.meetpod · Team S656J6V43T · EAS 7a8ffc12-... · Owner harrycpkworks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08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9728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  <a:ea typeface="맑은 고딕"/>
              </a:rPr>
              <a:t>부록: 알려진 함정 (Gotchas)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517904"/>
            <a:ext cx="292608" cy="292608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81328"/>
            <a:ext cx="292608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C24E10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463040"/>
            <a:ext cx="1033272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맑은 고딕"/>
                <a:ea typeface="맑은 고딕"/>
              </a:rPr>
              <a:t>Supabase JWT는 ES256(비대칭) — 'JWT secret'은 kid이지 HMAC 키가 아님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084832"/>
            <a:ext cx="292608" cy="292608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48256"/>
            <a:ext cx="292608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C24E10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29968"/>
            <a:ext cx="1033272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맑은 고딕"/>
                <a:ea typeface="맑은 고딕"/>
              </a:rPr>
              <a:t>supabase-py 2.8.x HTTP/2 끊김 버그 — 2.30.x+ 업그레이드 권장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651760"/>
            <a:ext cx="292608" cy="292608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15184"/>
            <a:ext cx="292608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C24E10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596896"/>
            <a:ext cx="1033272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맑은 고딕"/>
                <a:ea typeface="맑은 고딕"/>
              </a:rPr>
              <a:t>RN fetch(file://).blob() 빈 blob — arrayBuffer()로 직접 업로드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218688"/>
            <a:ext cx="292608" cy="292608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182112"/>
            <a:ext cx="292608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C24E10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163824"/>
            <a:ext cx="1033272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맑은 고딕"/>
                <a:ea typeface="맑은 고딕"/>
              </a:rPr>
              <a:t>Expo Go는 원격 푸시·백그라운드 위치 제한 — EAS Build 필수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3785616"/>
            <a:ext cx="292608" cy="292608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749040"/>
            <a:ext cx="292608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C24E10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730752"/>
            <a:ext cx="1033272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맑은 고딕"/>
                <a:ea typeface="맑은 고딕"/>
              </a:rPr>
              <a:t>FlatList를 ScrollView 안에 넣으면 크래시 — View + map 사용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" y="4352544"/>
            <a:ext cx="292608" cy="292608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315968"/>
            <a:ext cx="292608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C24E10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297680"/>
            <a:ext cx="1033272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맑은 고딕"/>
                <a:ea typeface="맑은 고딕"/>
              </a:rPr>
              <a:t>Zustand 셀렉터가 새 배열 리터럴 반환 시 무한 루프 — 안정적 빈 상수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" y="4919472"/>
            <a:ext cx="292608" cy="292608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882896"/>
            <a:ext cx="292608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C24E10"/>
                </a:solidFill>
                <a:latin typeface="맑은 고딕"/>
                <a:ea typeface="맑은 고딕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4864608"/>
            <a:ext cx="1033272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맑은 고딕"/>
                <a:ea typeface="맑은 고딕"/>
              </a:rPr>
              <a:t>pg_cron은 ALTER DATABASE 불가 — 함수 본문 하드코딩 + GUC fallback</a:t>
            </a:r>
          </a:p>
        </p:txBody>
      </p:sp>
      <p:sp>
        <p:nvSpPr>
          <p:cNvPr id="26" name="Oval 25"/>
          <p:cNvSpPr/>
          <p:nvPr/>
        </p:nvSpPr>
        <p:spPr>
          <a:xfrm>
            <a:off x="822960" y="5486400"/>
            <a:ext cx="292608" cy="292608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449824"/>
            <a:ext cx="292608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C24E10"/>
                </a:solidFill>
                <a:latin typeface="맑은 고딕"/>
                <a:ea typeface="맑은 고딕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431536"/>
            <a:ext cx="1033272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맑은 고딕"/>
                <a:ea typeface="맑은 고딕"/>
              </a:rPr>
              <a:t>Vercel env BOM·공백 혼입 → Invalid API key — config validator로 정제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