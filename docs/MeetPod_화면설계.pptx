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45720"/>
          </a:xfrm>
          <a:prstGeom prst="rect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1828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맑은 고딕"/>
              </a:rPr>
              <a:t>MeetPod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5B7CFA"/>
                </a:solidFill>
                <a:latin typeface="맑은 고딕"/>
              </a:rPr>
              <a:t>화면 설계 (UI Design)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맑은 고딕"/>
              </a:rPr>
              <a:t>iPhone 프레임 기반 12개 핵심 화면 + 디자인 시스템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4114800"/>
            <a:ext cx="1645920" cy="237744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208008" y="4178808"/>
            <a:ext cx="1517904" cy="2249424"/>
          </a:xfrm>
          <a:prstGeom prst="roundRect">
            <a:avLst>
              <a:gd name="adj" fmla="val 8000"/>
            </a:avLst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738360" y="4279392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52120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MeetPod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맑은 고딕"/>
              </a:rPr>
              <a:t>2026.05.03  ·  CPKWorks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5B7CFA"/>
                </a:solidFill>
                <a:latin typeface="맑은 고딕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188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Design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맑은 고딕"/>
              </a:rPr>
              <a:t>컬러 팔레트 · 타이포그래피 · 컴포넌트 기본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맑은 고딕"/>
              </a:rPr>
              <a:t>Colors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1280160" cy="640080"/>
          </a:xfrm>
          <a:prstGeom prst="roundRect">
            <a:avLst>
              <a:gd name="adj" fmla="val 10000"/>
            </a:avLst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3055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맑은 고딕"/>
              </a:rPr>
              <a:t>App BG (Hermès)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22576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맑은 고딕"/>
              </a:rPr>
              <a:t>#FF6900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4519" y="1417320"/>
            <a:ext cx="1280160" cy="640080"/>
          </a:xfrm>
          <a:prstGeom prst="roundRect">
            <a:avLst>
              <a:gd name="adj" fmla="val 10000"/>
            </a:avLst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74519" y="213055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맑은 고딕"/>
              </a:rPr>
              <a:t>Brand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322576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맑은 고딕"/>
              </a:rPr>
              <a:t>#5B7CFA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1417320"/>
            <a:ext cx="1280160" cy="64008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213055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맑은 고딕"/>
              </a:rPr>
              <a:t>Brand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322576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맑은 고딕"/>
              </a:rPr>
              <a:t>#8B5CF6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1417320"/>
            <a:ext cx="1280160" cy="64008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213055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맑은 고딕"/>
              </a:rPr>
              <a:t>Accent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2322576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맑은 고딕"/>
              </a:rPr>
              <a:t>#06B6D4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423160"/>
            <a:ext cx="1280160" cy="64008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13639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맑은 고딕"/>
              </a:rPr>
              <a:t>Success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328416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맑은 고딕"/>
              </a:rPr>
              <a:t>#10B981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74519" y="2423160"/>
            <a:ext cx="1280160" cy="64008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74519" y="313639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맑은 고딕"/>
              </a:rPr>
              <a:t>Warn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3328416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맑은 고딕"/>
              </a:rPr>
              <a:t>#F59E0B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91840" y="2423160"/>
            <a:ext cx="1280160" cy="640080"/>
          </a:xfrm>
          <a:prstGeom prst="roundRect">
            <a:avLst>
              <a:gd name="adj" fmla="val 1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40" y="313639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맑은 고딕"/>
              </a:rPr>
              <a:t>Danger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3328416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맑은 고딕"/>
              </a:rPr>
              <a:t>#EF4444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09160" y="2423160"/>
            <a:ext cx="1280160" cy="64008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9160" y="313639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맑은 고딕"/>
              </a:rPr>
              <a:t>Ink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3328416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맑은 고딕"/>
              </a:rPr>
              <a:t>#0F172A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0058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맑은 고딕"/>
              </a:rPr>
              <a:t>Typography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4173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Display · 26pt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137160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맑은 고딕"/>
              </a:rPr>
              <a:t>약속을 더 쉽게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19202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Title · 18pt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18745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맑은 고딕"/>
              </a:rPr>
              <a:t>오늘의 약속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24231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Heading · 14pt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237744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맑은 고딕"/>
              </a:rPr>
              <a:t>참여자 (3)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29260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Body · 11pt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288036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맑은 고딕"/>
              </a:rPr>
              <a:t>친구 두 명과 7시 강남역에서 만나기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34290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Caption · 9pt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33832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20분 전 자동 시작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023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맑은 고딕"/>
              </a:rPr>
              <a:t>Components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434840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4526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Primary 버튼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468880" y="4434840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B7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468880" y="4526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5B7CFA"/>
                </a:solidFill>
                <a:latin typeface="맑은 고딕"/>
              </a:rPr>
              <a:t>Secondary 버튼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983480"/>
            <a:ext cx="3840480" cy="457200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512064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닉네임을 입력하세요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5778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5627217"/>
            <a:ext cx="9144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5B7CFA"/>
                </a:solidFill>
                <a:latin typeface="맑은 고딕"/>
              </a:rPr>
              <a:t>그룹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417320" y="55778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417320" y="5627217"/>
            <a:ext cx="9144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0B981"/>
                </a:solidFill>
                <a:latin typeface="맑은 고딕"/>
              </a:rPr>
              <a:t>약속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377440" y="55778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377440" y="5627217"/>
            <a:ext cx="9144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EF4444"/>
                </a:solidFill>
                <a:latin typeface="맑은 고딕"/>
              </a:rPr>
              <a:t>긴급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0" y="4434840"/>
            <a:ext cx="2194560" cy="457200"/>
          </a:xfrm>
          <a:prstGeom prst="roundRect">
            <a:avLst>
              <a:gd name="adj" fmla="val 4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37960" y="454456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맑은 고딕"/>
              </a:rPr>
              <a:t>어디야? 곧 도착해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863840" y="5029200"/>
            <a:ext cx="2194560" cy="457200"/>
          </a:xfrm>
          <a:prstGeom prst="roundRect">
            <a:avLst>
              <a:gd name="adj" fmla="val 40000"/>
            </a:avLst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01000" y="513892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5분 안에 도착!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00800" y="5623560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492240" y="5687568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92240" y="5733288"/>
            <a:ext cx="411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F172A"/>
                </a:solidFill>
                <a:latin typeface="맑은 고딕"/>
              </a:rPr>
              <a:t>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95160" y="566928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맑은 고딕"/>
              </a:rPr>
              <a:t>OO식당 강남점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95160" y="5870448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맑은 고딕"/>
              </a:rPr>
              <a:t>서울 강남구 테헤란로 123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MeetPod — 화면 설계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5B7CFA"/>
                </a:solidFill>
                <a:latin typeface="맑은 고딕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188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Navigation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맑은 고딕"/>
              </a:rPr>
              <a:t>앱 전체 화면 구조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3657600" cy="640080"/>
          </a:xfrm>
          <a:prstGeom prst="roundRect">
            <a:avLst>
              <a:gd name="adj" fmla="val 20000"/>
            </a:avLst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Auth Stack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74519"/>
            <a:ext cx="1188720" cy="50292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9525">
            <a:solidFill>
              <a:srgbClr val="5B7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99339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B7CFA"/>
                </a:solidFill>
                <a:latin typeface="맑은 고딕"/>
              </a:rPr>
              <a:t>Login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37360" y="1874519"/>
            <a:ext cx="1188720" cy="50292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9525">
            <a:solidFill>
              <a:srgbClr val="5B7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199339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B7CFA"/>
                </a:solidFill>
                <a:latin typeface="맑은 고딕"/>
              </a:rPr>
              <a:t>OnboardingHandle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1874519"/>
            <a:ext cx="1188720" cy="50292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9525">
            <a:solidFill>
              <a:srgbClr val="5B7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199339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B7CFA"/>
                </a:solidFill>
                <a:latin typeface="맑은 고딕"/>
              </a:rPr>
              <a:t>InviteAccept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743200"/>
            <a:ext cx="11247120" cy="36576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2743200"/>
            <a:ext cx="3657600" cy="640080"/>
          </a:xfrm>
          <a:prstGeom prst="roundRect">
            <a:avLst>
              <a:gd name="adj" fmla="val 20000"/>
            </a:avLst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8803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Main Tab Navigator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611880"/>
            <a:ext cx="2697480" cy="502920"/>
          </a:xfrm>
          <a:prstGeom prst="roundRect">
            <a:avLst>
              <a:gd name="adj" fmla="val 20000"/>
            </a:avLst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730752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📅 Meetups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251960"/>
            <a:ext cx="242316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5B7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3434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맑은 고딕"/>
              </a:rPr>
              <a:t>MeetupList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709160"/>
            <a:ext cx="242316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5B7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8006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맑은 고딕"/>
              </a:rPr>
              <a:t>MeetupDetail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166360"/>
            <a:ext cx="242316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5B7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2578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맑은 고딕"/>
              </a:rPr>
              <a:t>MeetupCreate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623560"/>
            <a:ext cx="242316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5B7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7150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맑은 고딕"/>
              </a:rPr>
              <a:t>MeetupMap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6080760"/>
            <a:ext cx="242316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5B7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61722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맑은 고딕"/>
              </a:rPr>
              <a:t>PlacePicker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01568" y="3611880"/>
            <a:ext cx="2697480" cy="5029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01568" y="3730752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👥 Groups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38728" y="4251960"/>
            <a:ext cx="242316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38728" y="43434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맑은 고딕"/>
              </a:rPr>
              <a:t>GroupList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38728" y="4709160"/>
            <a:ext cx="242316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38728" y="48006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맑은 고딕"/>
              </a:rPr>
              <a:t>GroupDetail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538728" y="5166360"/>
            <a:ext cx="242316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38728" y="52578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맑은 고딕"/>
              </a:rPr>
              <a:t>GroupCreate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538728" y="5623560"/>
            <a:ext cx="242316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38728" y="57150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맑은 고딕"/>
              </a:rPr>
              <a:t>GroupMembers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538728" y="6080760"/>
            <a:ext cx="242316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38728" y="61722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맑은 고딕"/>
              </a:rPr>
              <a:t>GroupInvite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63056" y="3611880"/>
            <a:ext cx="2697480" cy="5029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63056" y="3730752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💬 Chats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00216" y="4251960"/>
            <a:ext cx="242316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0216" y="43434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맑은 고딕"/>
              </a:rPr>
              <a:t>ChatList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00216" y="4709160"/>
            <a:ext cx="242316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0216" y="48006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맑은 고딕"/>
              </a:rPr>
              <a:t>ChatRoom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24544" y="3611880"/>
            <a:ext cx="2697480" cy="50292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24544" y="3730752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👤 Me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061704" y="4251960"/>
            <a:ext cx="242316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61704" y="43434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맑은 고딕"/>
              </a:rPr>
              <a:t>Profile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061704" y="4709160"/>
            <a:ext cx="242316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61704" y="48006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맑은 고딕"/>
              </a:rPr>
              <a:t>RemindersDefault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MeetPod — 화면 설계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5B7CFA"/>
                </a:solidFill>
                <a:latin typeface="맑은 고딕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188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로그인  ·  LoginScreen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맑은 고딕"/>
              </a:rPr>
              <a:t>Route: /auth/login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51560"/>
            <a:ext cx="2736342" cy="5616702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7687" y="1109167"/>
            <a:ext cx="2621128" cy="5501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00200" y="1205179"/>
            <a:ext cx="816102" cy="19202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0508" y="1233982"/>
            <a:ext cx="576072" cy="1728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0F172A"/>
                </a:solidFill>
                <a:latin typeface="맑은 고딕"/>
              </a:rPr>
              <a:t>9:41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96362" y="1272386"/>
            <a:ext cx="76809" cy="6720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92374" y="1272386"/>
            <a:ext cx="76809" cy="6720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8386" y="1272386"/>
            <a:ext cx="172821" cy="7680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80185" y="6495441"/>
            <a:ext cx="1056132" cy="48006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7687" y="1512417"/>
            <a:ext cx="2621128" cy="4906214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596771" y="1969617"/>
            <a:ext cx="822960" cy="822960"/>
          </a:xfrm>
          <a:prstGeom prst="roundRect">
            <a:avLst>
              <a:gd name="adj" fmla="val 30000"/>
            </a:avLst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96771" y="2152497"/>
            <a:ext cx="822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맑은 고딕"/>
              </a:rPr>
              <a:t>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687" y="2929737"/>
            <a:ext cx="26211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맑은 고딕"/>
              </a:rPr>
              <a:t>MeetPod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" y="3249777"/>
            <a:ext cx="2621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맑은 고딕"/>
              </a:rPr>
              <a:t>친구들의 약속을 더 쉽게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6287" y="4347057"/>
            <a:ext cx="2163928" cy="43891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6287" y="4465929"/>
            <a:ext cx="21639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Apple로 계속하기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6287" y="4877409"/>
            <a:ext cx="2163928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287" y="4996281"/>
            <a:ext cx="21639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맑은 고딕"/>
              </a:rPr>
              <a:t>Google로 계속하기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6287" y="5407761"/>
            <a:ext cx="2163928" cy="438912"/>
          </a:xfrm>
          <a:prstGeom prst="roundRect">
            <a:avLst>
              <a:gd name="adj" fmla="val 50000"/>
            </a:avLst>
          </a:prstGeom>
          <a:solidFill>
            <a:srgbClr val="FEE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6287" y="5526633"/>
            <a:ext cx="21639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맑은 고딕"/>
              </a:rPr>
              <a:t>Kakao로 계속하기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" y="5824271"/>
            <a:ext cx="2621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맑은 고딕"/>
              </a:rPr>
              <a:t>계속 진행 시 이용약관 · 개인정보 처리방침 동의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6240" y="1051560"/>
            <a:ext cx="7498079" cy="16916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06240" y="1051560"/>
            <a:ext cx="73152" cy="1691640"/>
          </a:xfrm>
          <a:prstGeom prst="rect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40" y="1161288"/>
            <a:ext cx="71323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Layout</a:t>
            </a:r>
          </a:p>
        </p:txBody>
      </p:sp>
      <p:sp>
        <p:nvSpPr>
          <p:cNvPr id="31" name="Oval 30"/>
          <p:cNvSpPr/>
          <p:nvPr/>
        </p:nvSpPr>
        <p:spPr>
          <a:xfrm>
            <a:off x="4480560" y="1527048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45152" y="1463040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풀블리드 화이트 + 중앙 로고/CTA</a:t>
            </a:r>
          </a:p>
        </p:txBody>
      </p:sp>
      <p:sp>
        <p:nvSpPr>
          <p:cNvPr id="33" name="Oval 32"/>
          <p:cNvSpPr/>
          <p:nvPr/>
        </p:nvSpPr>
        <p:spPr>
          <a:xfrm>
            <a:off x="4480560" y="1819656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45152" y="1755648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소셜 버튼 3종: Apple(검정) · Google(테두리) · Kakao(노랑)</a:t>
            </a:r>
          </a:p>
        </p:txBody>
      </p:sp>
      <p:sp>
        <p:nvSpPr>
          <p:cNvPr id="35" name="Oval 34"/>
          <p:cNvSpPr/>
          <p:nvPr/>
        </p:nvSpPr>
        <p:spPr>
          <a:xfrm>
            <a:off x="4480560" y="2112264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45152" y="2048256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하단 약관/개인정보 텍스트 (8pt MUTED)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06240" y="2834640"/>
            <a:ext cx="7498079" cy="16916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06240" y="2834640"/>
            <a:ext cx="73152" cy="16916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2944368"/>
            <a:ext cx="71323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Interaction</a:t>
            </a:r>
          </a:p>
        </p:txBody>
      </p:sp>
      <p:sp>
        <p:nvSpPr>
          <p:cNvPr id="40" name="Oval 39"/>
          <p:cNvSpPr/>
          <p:nvPr/>
        </p:nvSpPr>
        <p:spPr>
          <a:xfrm>
            <a:off x="4480560" y="3310128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45152" y="3246120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버튼 탭 → OAuth 시트 모달</a:t>
            </a:r>
          </a:p>
        </p:txBody>
      </p:sp>
      <p:sp>
        <p:nvSpPr>
          <p:cNvPr id="42" name="Oval 41"/>
          <p:cNvSpPr/>
          <p:nvPr/>
        </p:nvSpPr>
        <p:spPr>
          <a:xfrm>
            <a:off x="4480560" y="3602736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45152" y="3538728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성공 → handle 미설정 시 OnboardingHandleScreen</a:t>
            </a:r>
          </a:p>
        </p:txBody>
      </p:sp>
      <p:sp>
        <p:nvSpPr>
          <p:cNvPr id="44" name="Oval 43"/>
          <p:cNvSpPr/>
          <p:nvPr/>
        </p:nvSpPr>
        <p:spPr>
          <a:xfrm>
            <a:off x="4480560" y="3895344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45152" y="3831336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기존 사용자는 바로 MeetupListScreen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06240" y="4617720"/>
            <a:ext cx="7498079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06240" y="4617720"/>
            <a:ext cx="73152" cy="1828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34840" y="4727448"/>
            <a:ext cx="71323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Design Note</a:t>
            </a:r>
          </a:p>
        </p:txBody>
      </p:sp>
      <p:sp>
        <p:nvSpPr>
          <p:cNvPr id="49" name="Oval 48"/>
          <p:cNvSpPr/>
          <p:nvPr/>
        </p:nvSpPr>
        <p:spPr>
          <a:xfrm>
            <a:off x="4480560" y="5093208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45152" y="5029200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로고는 24/24 라운드 사각, 가운데 'M' 글자형</a:t>
            </a:r>
          </a:p>
        </p:txBody>
      </p:sp>
      <p:sp>
        <p:nvSpPr>
          <p:cNvPr id="51" name="Oval 50"/>
          <p:cNvSpPr/>
          <p:nvPr/>
        </p:nvSpPr>
        <p:spPr>
          <a:xfrm>
            <a:off x="4480560" y="5385816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45152" y="5321808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서비스 톤: 친근하고 가벼움. 무거운 일러스트 지양</a:t>
            </a:r>
          </a:p>
        </p:txBody>
      </p:sp>
      <p:sp>
        <p:nvSpPr>
          <p:cNvPr id="53" name="Oval 52"/>
          <p:cNvSpPr/>
          <p:nvPr/>
        </p:nvSpPr>
        <p:spPr>
          <a:xfrm>
            <a:off x="4480560" y="5678424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45152" y="5614416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다크모드 시 배경 INK, 버튼 컬러 그대로 유지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MeetPod — 화면 설계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5B7CFA"/>
                </a:solidFill>
                <a:latin typeface="맑은 고딕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188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온보딩 - 핸들 설정  ·  OnboardingHandleScreen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맑은 고딕"/>
              </a:rPr>
              <a:t>Route: /auth/onboarding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51560"/>
            <a:ext cx="2736342" cy="5616702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7687" y="1109167"/>
            <a:ext cx="2621128" cy="5501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00200" y="1205179"/>
            <a:ext cx="816102" cy="19202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0508" y="1233982"/>
            <a:ext cx="576072" cy="1728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0F172A"/>
                </a:solidFill>
                <a:latin typeface="맑은 고딕"/>
              </a:rPr>
              <a:t>9:41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96362" y="1272386"/>
            <a:ext cx="76809" cy="6720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92374" y="1272386"/>
            <a:ext cx="76809" cy="6720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8386" y="1272386"/>
            <a:ext cx="172821" cy="7680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80185" y="6495441"/>
            <a:ext cx="1056132" cy="48006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7687" y="1512417"/>
            <a:ext cx="2621128" cy="4906214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7687" y="1512417"/>
            <a:ext cx="2621128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7687" y="1923897"/>
            <a:ext cx="2621128" cy="45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7687" y="1631289"/>
            <a:ext cx="2621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맑은 고딕"/>
              </a:rPr>
              <a:t>프로필 설정</a:t>
            </a:r>
          </a:p>
        </p:txBody>
      </p:sp>
      <p:sp>
        <p:nvSpPr>
          <p:cNvPr id="20" name="Oval 19"/>
          <p:cNvSpPr/>
          <p:nvPr/>
        </p:nvSpPr>
        <p:spPr>
          <a:xfrm>
            <a:off x="1505331" y="2289657"/>
            <a:ext cx="1005840" cy="1005840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05331" y="2563977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94A3B8"/>
                </a:solidFill>
                <a:latin typeface="맑은 고딕"/>
              </a:rPr>
              <a:t>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687" y="3386937"/>
            <a:ext cx="2621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B7CFA"/>
                </a:solidFill>
                <a:latin typeface="맑은 고딕"/>
              </a:rPr>
              <a:t>사진 추가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7" y="3844137"/>
            <a:ext cx="2621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맑은 고딕"/>
              </a:rPr>
              <a:t>핸들 (변경 불가)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6287" y="4136745"/>
            <a:ext cx="2163928" cy="457200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3447" y="4255617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94A3B8"/>
                </a:solidFill>
                <a:latin typeface="맑은 고딕"/>
              </a:rPr>
              <a:t>@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7767" y="4273905"/>
            <a:ext cx="17067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맑은 고딕"/>
              </a:rPr>
              <a:t>hyejin22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2007" y="4667097"/>
            <a:ext cx="2621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10B981"/>
                </a:solidFill>
                <a:latin typeface="맑은 고딕"/>
              </a:rPr>
              <a:t>✓ 사용 가능한 핸들이에요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007" y="5032857"/>
            <a:ext cx="2621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맑은 고딕"/>
              </a:rPr>
              <a:t>표시 이름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6287" y="5325465"/>
            <a:ext cx="2163928" cy="457200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3447" y="5462625"/>
            <a:ext cx="1981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맑은 고딕"/>
              </a:rPr>
              <a:t>혜진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6287" y="5549951"/>
            <a:ext cx="2163928" cy="457200"/>
          </a:xfrm>
          <a:prstGeom prst="roundRect">
            <a:avLst>
              <a:gd name="adj" fmla="val 50000"/>
            </a:avLst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6287" y="5668823"/>
            <a:ext cx="21639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시작하기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06240" y="1051560"/>
            <a:ext cx="7498079" cy="16916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06240" y="1051560"/>
            <a:ext cx="73152" cy="1691640"/>
          </a:xfrm>
          <a:prstGeom prst="rect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1161288"/>
            <a:ext cx="71323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Layout</a:t>
            </a:r>
          </a:p>
        </p:txBody>
      </p:sp>
      <p:sp>
        <p:nvSpPr>
          <p:cNvPr id="36" name="Oval 35"/>
          <p:cNvSpPr/>
          <p:nvPr/>
        </p:nvSpPr>
        <p:spPr>
          <a:xfrm>
            <a:off x="4480560" y="1527048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45152" y="1463040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원형 아바타 업로드 + 핸들 + 표시이름 2필드</a:t>
            </a:r>
          </a:p>
        </p:txBody>
      </p:sp>
      <p:sp>
        <p:nvSpPr>
          <p:cNvPr id="38" name="Oval 37"/>
          <p:cNvSpPr/>
          <p:nvPr/>
        </p:nvSpPr>
        <p:spPr>
          <a:xfrm>
            <a:off x="4480560" y="1819656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45152" y="1755648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핸들 prefix '@' 고정 표시, 변경 불가 안내</a:t>
            </a:r>
          </a:p>
        </p:txBody>
      </p:sp>
      <p:sp>
        <p:nvSpPr>
          <p:cNvPr id="40" name="Oval 39"/>
          <p:cNvSpPr/>
          <p:nvPr/>
        </p:nvSpPr>
        <p:spPr>
          <a:xfrm>
            <a:off x="4480560" y="2112264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45152" y="2048256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실시간 사용 가능 여부 체크 (✓/✗)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06240" y="2834640"/>
            <a:ext cx="7498079" cy="16916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06240" y="2834640"/>
            <a:ext cx="73152" cy="16916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34840" y="2944368"/>
            <a:ext cx="71323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Interaction</a:t>
            </a:r>
          </a:p>
        </p:txBody>
      </p:sp>
      <p:sp>
        <p:nvSpPr>
          <p:cNvPr id="45" name="Oval 44"/>
          <p:cNvSpPr/>
          <p:nvPr/>
        </p:nvSpPr>
        <p:spPr>
          <a:xfrm>
            <a:off x="4480560" y="3310128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45152" y="3246120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핸들 입력 시 디바운스 검증 → 색상 피드백</a:t>
            </a:r>
          </a:p>
        </p:txBody>
      </p:sp>
      <p:sp>
        <p:nvSpPr>
          <p:cNvPr id="47" name="Oval 46"/>
          <p:cNvSpPr/>
          <p:nvPr/>
        </p:nvSpPr>
        <p:spPr>
          <a:xfrm>
            <a:off x="4480560" y="3602736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45152" y="3538728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표시이름은 1~20자 자유, 이모지 허용</a:t>
            </a:r>
          </a:p>
        </p:txBody>
      </p:sp>
      <p:sp>
        <p:nvSpPr>
          <p:cNvPr id="49" name="Oval 48"/>
          <p:cNvSpPr/>
          <p:nvPr/>
        </p:nvSpPr>
        <p:spPr>
          <a:xfrm>
            <a:off x="4480560" y="3895344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45152" y="3831336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시작하기 → 메인 탭으로 이동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06240" y="4617720"/>
            <a:ext cx="7498079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06240" y="4617720"/>
            <a:ext cx="73152" cy="1828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34840" y="4727448"/>
            <a:ext cx="71323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Design Note</a:t>
            </a:r>
          </a:p>
        </p:txBody>
      </p:sp>
      <p:sp>
        <p:nvSpPr>
          <p:cNvPr id="54" name="Oval 53"/>
          <p:cNvSpPr/>
          <p:nvPr/>
        </p:nvSpPr>
        <p:spPr>
          <a:xfrm>
            <a:off x="4480560" y="5093208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45152" y="5029200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입력 필드는 GRAY_BG + 포커스 시 BRAND 테두리</a:t>
            </a:r>
          </a:p>
        </p:txBody>
      </p:sp>
      <p:sp>
        <p:nvSpPr>
          <p:cNvPr id="56" name="Oval 55"/>
          <p:cNvSpPr/>
          <p:nvPr/>
        </p:nvSpPr>
        <p:spPr>
          <a:xfrm>
            <a:off x="4480560" y="5385816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45152" y="5321808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오류는 폼 하단 인라인 (DANGER 색)</a:t>
            </a:r>
          </a:p>
        </p:txBody>
      </p:sp>
      <p:sp>
        <p:nvSpPr>
          <p:cNvPr id="58" name="Oval 57"/>
          <p:cNvSpPr/>
          <p:nvPr/>
        </p:nvSpPr>
        <p:spPr>
          <a:xfrm>
            <a:off x="4480560" y="5678424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45152" y="5614416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키보드 위에 CTA 떠있도록 KeyboardAvoidingView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MeetPod — 화면 설계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5B7CFA"/>
                </a:solidFill>
                <a:latin typeface="맑은 고딕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188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약속 목록  ·  MeetupListScreen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맑은 고딕"/>
              </a:rPr>
              <a:t>Route: /meetups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51560"/>
            <a:ext cx="2736342" cy="5616702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7687" y="1109167"/>
            <a:ext cx="2621128" cy="5501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00200" y="1205179"/>
            <a:ext cx="816102" cy="19202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0508" y="1233982"/>
            <a:ext cx="576072" cy="1728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0F172A"/>
                </a:solidFill>
                <a:latin typeface="맑은 고딕"/>
              </a:rPr>
              <a:t>9:41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96362" y="1272386"/>
            <a:ext cx="76809" cy="6720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92374" y="1272386"/>
            <a:ext cx="76809" cy="6720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8386" y="1272386"/>
            <a:ext cx="172821" cy="7680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80185" y="6495441"/>
            <a:ext cx="1056132" cy="48006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7687" y="1512417"/>
            <a:ext cx="2621128" cy="4906214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7687" y="1512417"/>
            <a:ext cx="2621128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2007" y="1695297"/>
            <a:ext cx="26211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맑은 고딕"/>
              </a:rPr>
              <a:t>약속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6287" y="2381097"/>
            <a:ext cx="2163928" cy="38404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3447" y="2481681"/>
            <a:ext cx="1981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🔍  약속 검색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6287" y="2884017"/>
            <a:ext cx="2163928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53719" y="2911449"/>
            <a:ext cx="666445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87" y="2966313"/>
            <a:ext cx="72130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맑은 고딕"/>
              </a:rPr>
              <a:t>다가오는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7596" y="2966313"/>
            <a:ext cx="72130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맑은 고딕"/>
              </a:rPr>
              <a:t>오늘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68905" y="2966313"/>
            <a:ext cx="72130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맑은 고딕"/>
              </a:rPr>
              <a:t>지난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6287" y="3386937"/>
            <a:ext cx="2163928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26287" y="3386937"/>
            <a:ext cx="91440" cy="960120"/>
          </a:xfrm>
          <a:prstGeom prst="roundRect">
            <a:avLst>
              <a:gd name="adj" fmla="val 30000"/>
            </a:avLst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09167" y="3460089"/>
            <a:ext cx="198104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B7CFA"/>
                </a:solidFill>
                <a:latin typeface="맑은 고딕"/>
              </a:rPr>
              <a:t>오늘 · 19:00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167" y="3661257"/>
            <a:ext cx="1981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강남역 저녁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167" y="3889857"/>
            <a:ext cx="198104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맑은 고딕"/>
              </a:rPr>
              <a:t>OO식당 · 강남역 3번출구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167" y="4072737"/>
            <a:ext cx="198104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33405C"/>
                </a:solidFill>
                <a:latin typeface="맑은 고딕"/>
              </a:rPr>
              <a:t>지수 · +2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764335" y="4072737"/>
            <a:ext cx="1280160" cy="20116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64335" y="4108947"/>
            <a:ext cx="1280160" cy="1408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5B7CFA"/>
                </a:solidFill>
                <a:latin typeface="맑은 고딕"/>
              </a:rPr>
              <a:t>📍 20분 후 위치공유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6287" y="4438497"/>
            <a:ext cx="2163928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26287" y="4438497"/>
            <a:ext cx="91440" cy="96012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9167" y="4511649"/>
            <a:ext cx="198104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맑은 고딕"/>
              </a:rPr>
              <a:t>내일 · 12:30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9167" y="4712817"/>
            <a:ext cx="1981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북카페 모임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167" y="4941417"/>
            <a:ext cx="198104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맑은 고딕"/>
              </a:rPr>
              <a:t>동네책방 · 망원동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9167" y="5124297"/>
            <a:ext cx="198104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33405C"/>
                </a:solidFill>
                <a:latin typeface="맑은 고딕"/>
              </a:rPr>
              <a:t>민호 · +3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764335" y="5124297"/>
            <a:ext cx="1280160" cy="20116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764335" y="5160507"/>
            <a:ext cx="1280160" cy="1408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0B981"/>
                </a:solidFill>
                <a:latin typeface="맑은 고딕"/>
              </a:rPr>
              <a:t>🔔 30분 전 알림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6287" y="5490057"/>
            <a:ext cx="2163928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26287" y="5490057"/>
            <a:ext cx="91440" cy="960120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09167" y="5563209"/>
            <a:ext cx="198104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8B5CF6"/>
                </a:solidFill>
                <a:latin typeface="맑은 고딕"/>
              </a:rPr>
              <a:t>토 · 06:00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167" y="5764377"/>
            <a:ext cx="1981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OO산악회 산행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9167" y="5992977"/>
            <a:ext cx="198104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맑은 고딕"/>
              </a:rPr>
              <a:t>수락산 입구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9167" y="6175857"/>
            <a:ext cx="198104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33405C"/>
                </a:solidFill>
                <a:latin typeface="맑은 고딕"/>
              </a:rPr>
              <a:t>태훈 · +11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764335" y="6175857"/>
            <a:ext cx="1280160" cy="20116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764335" y="6212067"/>
            <a:ext cx="1280160" cy="1408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8B5CF6"/>
                </a:solidFill>
                <a:latin typeface="맑은 고딕"/>
              </a:rPr>
              <a:t>📅 그룹 약속</a:t>
            </a:r>
          </a:p>
        </p:txBody>
      </p:sp>
      <p:sp>
        <p:nvSpPr>
          <p:cNvPr id="50" name="Oval 49"/>
          <p:cNvSpPr/>
          <p:nvPr/>
        </p:nvSpPr>
        <p:spPr>
          <a:xfrm>
            <a:off x="2491283" y="5289347"/>
            <a:ext cx="594360" cy="594360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472995" y="5252771"/>
            <a:ext cx="594360" cy="594360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472995" y="5371643"/>
            <a:ext cx="59436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+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7687" y="6052871"/>
            <a:ext cx="2621128" cy="45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7687" y="6057443"/>
            <a:ext cx="2621128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7687" y="6098591"/>
            <a:ext cx="65528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B7CFA"/>
                </a:solidFill>
                <a:latin typeface="맑은 고딕"/>
              </a:rPr>
              <a:t>📅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7687" y="6272327"/>
            <a:ext cx="655282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5B7CFA"/>
                </a:solidFill>
                <a:latin typeface="맑은 고딕"/>
              </a:rPr>
              <a:t>약속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52969" y="6098591"/>
            <a:ext cx="65528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맑은 고딕"/>
              </a:rPr>
              <a:t>👥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52969" y="6272327"/>
            <a:ext cx="655282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맑은 고딕"/>
              </a:rPr>
              <a:t>그룹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08251" y="6098591"/>
            <a:ext cx="65528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맑은 고딕"/>
              </a:rPr>
              <a:t>💬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08251" y="6272327"/>
            <a:ext cx="655282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맑은 고딕"/>
              </a:rPr>
              <a:t>채팅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63533" y="6098591"/>
            <a:ext cx="65528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맑은 고딕"/>
              </a:rPr>
              <a:t>👤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663533" y="6272327"/>
            <a:ext cx="655282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맑은 고딕"/>
              </a:rPr>
              <a:t>Me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206240" y="1051560"/>
            <a:ext cx="7498079" cy="16916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206240" y="1051560"/>
            <a:ext cx="73152" cy="1691640"/>
          </a:xfrm>
          <a:prstGeom prst="rect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434840" y="1161288"/>
            <a:ext cx="71323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Layout</a:t>
            </a:r>
          </a:p>
        </p:txBody>
      </p:sp>
      <p:sp>
        <p:nvSpPr>
          <p:cNvPr id="66" name="Oval 65"/>
          <p:cNvSpPr/>
          <p:nvPr/>
        </p:nvSpPr>
        <p:spPr>
          <a:xfrm>
            <a:off x="4480560" y="1527048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645152" y="1463040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대형 타이틀 (iOS 스타일)</a:t>
            </a:r>
          </a:p>
        </p:txBody>
      </p:sp>
      <p:sp>
        <p:nvSpPr>
          <p:cNvPr id="68" name="Oval 67"/>
          <p:cNvSpPr/>
          <p:nvPr/>
        </p:nvSpPr>
        <p:spPr>
          <a:xfrm>
            <a:off x="4480560" y="1819656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645152" y="1755648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검색 바 + 세그먼트(다가오는/오늘/지난)</a:t>
            </a:r>
          </a:p>
        </p:txBody>
      </p:sp>
      <p:sp>
        <p:nvSpPr>
          <p:cNvPr id="70" name="Oval 69"/>
          <p:cNvSpPr/>
          <p:nvPr/>
        </p:nvSpPr>
        <p:spPr>
          <a:xfrm>
            <a:off x="4480560" y="2112264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45152" y="2048256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카드: 좌측 컬러 스트라이프로 그룹/약속 구분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206240" y="2834640"/>
            <a:ext cx="7498079" cy="16916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206240" y="2834640"/>
            <a:ext cx="73152" cy="16916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434840" y="2944368"/>
            <a:ext cx="71323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Interaction</a:t>
            </a:r>
          </a:p>
        </p:txBody>
      </p:sp>
      <p:sp>
        <p:nvSpPr>
          <p:cNvPr id="75" name="Oval 74"/>
          <p:cNvSpPr/>
          <p:nvPr/>
        </p:nvSpPr>
        <p:spPr>
          <a:xfrm>
            <a:off x="4480560" y="3310128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645152" y="3246120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FAB(+) 탭 → MeetupCreateScreen 모달 push</a:t>
            </a:r>
          </a:p>
        </p:txBody>
      </p:sp>
      <p:sp>
        <p:nvSpPr>
          <p:cNvPr id="77" name="Oval 76"/>
          <p:cNvSpPr/>
          <p:nvPr/>
        </p:nvSpPr>
        <p:spPr>
          <a:xfrm>
            <a:off x="4480560" y="3602736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645152" y="3538728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카드 탭 → MeetupDetailScreen</a:t>
            </a:r>
          </a:p>
        </p:txBody>
      </p:sp>
      <p:sp>
        <p:nvSpPr>
          <p:cNvPr id="79" name="Oval 78"/>
          <p:cNvSpPr/>
          <p:nvPr/>
        </p:nvSpPr>
        <p:spPr>
          <a:xfrm>
            <a:off x="4480560" y="3895344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645152" y="3831336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Pull-to-refresh로 최신 갱신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206240" y="4617720"/>
            <a:ext cx="7498079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206240" y="4617720"/>
            <a:ext cx="73152" cy="1828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434840" y="4727448"/>
            <a:ext cx="71323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Design Note</a:t>
            </a:r>
          </a:p>
        </p:txBody>
      </p:sp>
      <p:sp>
        <p:nvSpPr>
          <p:cNvPr id="84" name="Oval 83"/>
          <p:cNvSpPr/>
          <p:nvPr/>
        </p:nvSpPr>
        <p:spPr>
          <a:xfrm>
            <a:off x="4480560" y="5093208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645152" y="5029200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카드 그림자 대신 1px HAIR 테두리 (라이트 톤)</a:t>
            </a:r>
          </a:p>
        </p:txBody>
      </p:sp>
      <p:sp>
        <p:nvSpPr>
          <p:cNvPr id="86" name="Oval 85"/>
          <p:cNvSpPr/>
          <p:nvPr/>
        </p:nvSpPr>
        <p:spPr>
          <a:xfrm>
            <a:off x="4480560" y="5385816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645152" y="5321808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시간 라벨은 카드 색과 동일하게 강조</a:t>
            </a:r>
          </a:p>
        </p:txBody>
      </p:sp>
      <p:sp>
        <p:nvSpPr>
          <p:cNvPr id="88" name="Oval 87"/>
          <p:cNvSpPr/>
          <p:nvPr/>
        </p:nvSpPr>
        <p:spPr>
          <a:xfrm>
            <a:off x="4480560" y="5678424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645152" y="5614416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위치공유/알림 상태는 우측 pill 한 줄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MeetPod — 화면 설계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5B7CFA"/>
                </a:solidFill>
                <a:latin typeface="맑은 고딕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188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약속 상세  ·  MeetupDetailScreen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맑은 고딕"/>
              </a:rPr>
              <a:t>Route: /meetups/:id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51560"/>
            <a:ext cx="2736342" cy="5616702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7687" y="1109167"/>
            <a:ext cx="2621128" cy="5501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00200" y="1205179"/>
            <a:ext cx="816102" cy="19202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0508" y="1233982"/>
            <a:ext cx="576072" cy="1728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0F172A"/>
                </a:solidFill>
                <a:latin typeface="맑은 고딕"/>
              </a:rPr>
              <a:t>9:41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96362" y="1272386"/>
            <a:ext cx="76809" cy="6720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92374" y="1272386"/>
            <a:ext cx="76809" cy="6720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8386" y="1272386"/>
            <a:ext cx="172821" cy="7680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80185" y="6495441"/>
            <a:ext cx="1056132" cy="48006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7687" y="1512417"/>
            <a:ext cx="2621128" cy="4906214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7687" y="1512417"/>
            <a:ext cx="2621128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7687" y="1923897"/>
            <a:ext cx="2621128" cy="45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" y="1603857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5B7CFA"/>
                </a:solidFill>
                <a:latin typeface="맑은 고딕"/>
              </a:rPr>
              <a:t>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" y="1631289"/>
            <a:ext cx="2621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맑은 고딕"/>
              </a:rPr>
              <a:t>약속 상세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0175" y="1640433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5B7CFA"/>
                </a:solidFill>
                <a:latin typeface="맑은 고딕"/>
              </a:rPr>
              <a:t>•••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7687" y="1923897"/>
            <a:ext cx="2621128" cy="1280160"/>
          </a:xfrm>
          <a:prstGeom prst="rect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2007" y="2106777"/>
            <a:ext cx="2621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맑은 고딕"/>
              </a:rPr>
              <a:t>오늘 19:00 · 친구 약속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007" y="2335377"/>
            <a:ext cx="207248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강남역 저녁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007" y="2792577"/>
            <a:ext cx="20724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맑은 고딕"/>
              </a:rPr>
              <a:t>📍 OO식당 · 강남역 3번출구 도보 2분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6287" y="3341217"/>
            <a:ext cx="2163928" cy="4389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7727" y="3460089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7CFA"/>
                </a:solidFill>
                <a:latin typeface="맑은 고딕"/>
              </a:rPr>
              <a:t>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37767" y="3405225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맑은 고딕"/>
              </a:rPr>
              <a:t>참여자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37767" y="3560673"/>
            <a:ext cx="17067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맑은 고딕"/>
              </a:rPr>
              <a:t>지수 · 민호 · 서연 (3)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6287" y="3844137"/>
            <a:ext cx="2163928" cy="4389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7727" y="3963009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7CFA"/>
                </a:solidFill>
                <a:latin typeface="맑은 고딕"/>
              </a:rPr>
              <a:t>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7767" y="3908145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맑은 고딕"/>
              </a:rPr>
              <a:t>내 알림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37767" y="4063593"/>
            <a:ext cx="17067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맑은 고딕"/>
              </a:rPr>
              <a:t>30분 전 · 변경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6287" y="4347057"/>
            <a:ext cx="2163928" cy="4389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727" y="4465929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7CFA"/>
                </a:solidFill>
                <a:latin typeface="맑은 고딕"/>
              </a:rPr>
              <a:t>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37767" y="4411065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맑은 고딕"/>
              </a:rPr>
              <a:t>위치 공유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7767" y="4566513"/>
            <a:ext cx="17067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맑은 고딕"/>
              </a:rPr>
              <a:t>18:40 자동 시작 (20분 전)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" y="5032857"/>
            <a:ext cx="2621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맑은 고딕"/>
              </a:rPr>
              <a:t>지도에서 위치 보기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6287" y="5325465"/>
            <a:ext cx="2163928" cy="9144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246327" y="5462625"/>
            <a:ext cx="164592" cy="164592"/>
          </a:xfrm>
          <a:prstGeom prst="ellipse">
            <a:avLst/>
          </a:prstGeom>
          <a:solidFill>
            <a:srgbClr val="5B7CFA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977847" y="5517489"/>
            <a:ext cx="164592" cy="164592"/>
          </a:xfrm>
          <a:prstGeom prst="ellipse">
            <a:avLst/>
          </a:prstGeom>
          <a:solidFill>
            <a:srgbClr val="10B981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526487" y="5435193"/>
            <a:ext cx="164592" cy="164592"/>
          </a:xfrm>
          <a:prstGeom prst="ellipse">
            <a:avLst/>
          </a:prstGeom>
          <a:solidFill>
            <a:srgbClr val="F59E0B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26287" y="5504231"/>
            <a:ext cx="2163928" cy="457200"/>
          </a:xfrm>
          <a:prstGeom prst="roundRect">
            <a:avLst>
              <a:gd name="adj" fmla="val 50000"/>
            </a:avLst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6287" y="5623103"/>
            <a:ext cx="21639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💬 약속 채팅 열기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06240" y="1051560"/>
            <a:ext cx="7498079" cy="16916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06240" y="1051560"/>
            <a:ext cx="73152" cy="1691640"/>
          </a:xfrm>
          <a:prstGeom prst="rect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34840" y="1161288"/>
            <a:ext cx="71323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Layout</a:t>
            </a:r>
          </a:p>
        </p:txBody>
      </p:sp>
      <p:sp>
        <p:nvSpPr>
          <p:cNvPr id="48" name="Oval 47"/>
          <p:cNvSpPr/>
          <p:nvPr/>
        </p:nvSpPr>
        <p:spPr>
          <a:xfrm>
            <a:off x="4480560" y="1527048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45152" y="1463040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BRAND 색 hero 영역에 약속명·장소</a:t>
            </a:r>
          </a:p>
        </p:txBody>
      </p:sp>
      <p:sp>
        <p:nvSpPr>
          <p:cNvPr id="50" name="Oval 49"/>
          <p:cNvSpPr/>
          <p:nvPr/>
        </p:nvSpPr>
        <p:spPr>
          <a:xfrm>
            <a:off x="4480560" y="1819656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45152" y="1755648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정보 행 3개: 참여자/내 알림/위치공유</a:t>
            </a:r>
          </a:p>
        </p:txBody>
      </p:sp>
      <p:sp>
        <p:nvSpPr>
          <p:cNvPr id="52" name="Oval 51"/>
          <p:cNvSpPr/>
          <p:nvPr/>
        </p:nvSpPr>
        <p:spPr>
          <a:xfrm>
            <a:off x="4480560" y="2112264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45152" y="2048256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지도 미리보기 + 채팅 진입 CTA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206240" y="2834640"/>
            <a:ext cx="7498079" cy="16916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206240" y="2834640"/>
            <a:ext cx="73152" cy="16916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34840" y="2944368"/>
            <a:ext cx="71323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Interaction</a:t>
            </a:r>
          </a:p>
        </p:txBody>
      </p:sp>
      <p:sp>
        <p:nvSpPr>
          <p:cNvPr id="57" name="Oval 56"/>
          <p:cNvSpPr/>
          <p:nvPr/>
        </p:nvSpPr>
        <p:spPr>
          <a:xfrm>
            <a:off x="4480560" y="3310128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645152" y="3246120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우측 상단 ••• → 편집/취소/나가기 메뉴</a:t>
            </a:r>
          </a:p>
        </p:txBody>
      </p:sp>
      <p:sp>
        <p:nvSpPr>
          <p:cNvPr id="59" name="Oval 58"/>
          <p:cNvSpPr/>
          <p:nvPr/>
        </p:nvSpPr>
        <p:spPr>
          <a:xfrm>
            <a:off x="4480560" y="3602736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45152" y="3538728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정보 행 탭 → 각 편집 화면</a:t>
            </a:r>
          </a:p>
        </p:txBody>
      </p:sp>
      <p:sp>
        <p:nvSpPr>
          <p:cNvPr id="61" name="Oval 60"/>
          <p:cNvSpPr/>
          <p:nvPr/>
        </p:nvSpPr>
        <p:spPr>
          <a:xfrm>
            <a:off x="4480560" y="3895344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45152" y="3831336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지도 탭 → MeetupMapScreen 풀스크린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206240" y="4617720"/>
            <a:ext cx="7498079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206240" y="4617720"/>
            <a:ext cx="73152" cy="1828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434840" y="4727448"/>
            <a:ext cx="71323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Design Note</a:t>
            </a:r>
          </a:p>
        </p:txBody>
      </p:sp>
      <p:sp>
        <p:nvSpPr>
          <p:cNvPr id="66" name="Oval 65"/>
          <p:cNvSpPr/>
          <p:nvPr/>
        </p:nvSpPr>
        <p:spPr>
          <a:xfrm>
            <a:off x="4480560" y="5093208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645152" y="5029200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hero 색은 약속 그룹 색을 따라감 (1회성은 BRAND)</a:t>
            </a:r>
          </a:p>
        </p:txBody>
      </p:sp>
      <p:sp>
        <p:nvSpPr>
          <p:cNvPr id="68" name="Oval 67"/>
          <p:cNvSpPr/>
          <p:nvPr/>
        </p:nvSpPr>
        <p:spPr>
          <a:xfrm>
            <a:off x="4480560" y="5385816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645152" y="5321808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지도 미리보기는 실제 지도 대신 SkeletonStyle</a:t>
            </a:r>
          </a:p>
        </p:txBody>
      </p:sp>
      <p:sp>
        <p:nvSpPr>
          <p:cNvPr id="70" name="Oval 69"/>
          <p:cNvSpPr/>
          <p:nvPr/>
        </p:nvSpPr>
        <p:spPr>
          <a:xfrm>
            <a:off x="4480560" y="5678424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45152" y="5614416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CTA는 sticky로 키보드 위 / 스크롤 무관 항상 노출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MeetPod — 화면 설계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5B7CFA"/>
                </a:solidFill>
                <a:latin typeface="맑은 고딕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188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약속 만들기  ·  MeetupCreateScreen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맑은 고딕"/>
              </a:rPr>
              <a:t>Route: /meetups/new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51560"/>
            <a:ext cx="2736342" cy="5616702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7687" y="1109167"/>
            <a:ext cx="2621128" cy="5501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00200" y="1205179"/>
            <a:ext cx="816102" cy="19202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0508" y="1233982"/>
            <a:ext cx="576072" cy="1728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0F172A"/>
                </a:solidFill>
                <a:latin typeface="맑은 고딕"/>
              </a:rPr>
              <a:t>9:41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96362" y="1272386"/>
            <a:ext cx="76809" cy="6720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92374" y="1272386"/>
            <a:ext cx="76809" cy="6720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8386" y="1272386"/>
            <a:ext cx="172821" cy="7680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80185" y="6495441"/>
            <a:ext cx="1056132" cy="48006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7687" y="1512417"/>
            <a:ext cx="2621128" cy="4906214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7687" y="1512417"/>
            <a:ext cx="2621128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7687" y="1923897"/>
            <a:ext cx="2621128" cy="45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" y="1603857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5B7CFA"/>
                </a:solidFill>
                <a:latin typeface="맑은 고딕"/>
              </a:rPr>
              <a:t>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" y="1631289"/>
            <a:ext cx="2621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맑은 고딕"/>
              </a:rPr>
              <a:t>새 약속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0175" y="1640433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5B7CFA"/>
                </a:solidFill>
                <a:latin typeface="맑은 고딕"/>
              </a:rPr>
              <a:t>저장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6287" y="2061057"/>
            <a:ext cx="2163928" cy="502920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3447" y="2207361"/>
            <a:ext cx="2621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맑은 고딕"/>
              </a:rPr>
              <a:t>약속 제목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6287" y="2701137"/>
            <a:ext cx="2163928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3447" y="282000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그룹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55775" y="2820009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5B7CFA"/>
                </a:solidFill>
                <a:latin typeface="맑은 고딕"/>
              </a:rPr>
              <a:t>1회성  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6287" y="3295497"/>
            <a:ext cx="2163928" cy="384048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3447" y="3386937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시작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2815" y="3386937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맑은 고딕"/>
              </a:rPr>
              <a:t>5/15 토 18:00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6287" y="3752697"/>
            <a:ext cx="2163928" cy="384048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3447" y="3844137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종료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2815" y="3844137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맑은 고딕"/>
              </a:rPr>
              <a:t>5/15 토 21:00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6287" y="4255617"/>
            <a:ext cx="2163928" cy="64008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3447" y="4347057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📍 장소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3447" y="4548225"/>
            <a:ext cx="1889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맑은 고딕"/>
              </a:rPr>
              <a:t>OO식당 강남점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6287" y="5032857"/>
            <a:ext cx="2163928" cy="54864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3447" y="5124297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참여자  ·  3</a:t>
            </a:r>
          </a:p>
        </p:txBody>
      </p:sp>
      <p:sp>
        <p:nvSpPr>
          <p:cNvPr id="38" name="Oval 37"/>
          <p:cNvSpPr/>
          <p:nvPr/>
        </p:nvSpPr>
        <p:spPr>
          <a:xfrm>
            <a:off x="1063447" y="5307177"/>
            <a:ext cx="256032" cy="25603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337767" y="5307177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612087" y="5307177"/>
            <a:ext cx="256032" cy="25603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04415" y="5197449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B7CFA"/>
                </a:solidFill>
                <a:latin typeface="맑은 고딕"/>
              </a:rPr>
              <a:t>편집  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6287" y="5718657"/>
            <a:ext cx="2163928" cy="384048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3447" y="5810097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📡 위치 공유 시작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90015" y="5810097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맑은 고딕"/>
              </a:rPr>
              <a:t>20분 전  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6287" y="6221577"/>
            <a:ext cx="2163928" cy="384048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63447" y="6313017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🔔 내 알림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90015" y="6313017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맑은 고딕"/>
              </a:rPr>
              <a:t>30분 전  ›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06240" y="1051560"/>
            <a:ext cx="7498079" cy="16916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206240" y="1051560"/>
            <a:ext cx="73152" cy="1691640"/>
          </a:xfrm>
          <a:prstGeom prst="rect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34840" y="1161288"/>
            <a:ext cx="71323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Layout</a:t>
            </a:r>
          </a:p>
        </p:txBody>
      </p:sp>
      <p:sp>
        <p:nvSpPr>
          <p:cNvPr id="51" name="Oval 50"/>
          <p:cNvSpPr/>
          <p:nvPr/>
        </p:nvSpPr>
        <p:spPr>
          <a:xfrm>
            <a:off x="4480560" y="1527048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45152" y="1463040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폼 행 단위 SURFACE 카드 스택</a:t>
            </a:r>
          </a:p>
        </p:txBody>
      </p:sp>
      <p:sp>
        <p:nvSpPr>
          <p:cNvPr id="53" name="Oval 52"/>
          <p:cNvSpPr/>
          <p:nvPr/>
        </p:nvSpPr>
        <p:spPr>
          <a:xfrm>
            <a:off x="4480560" y="1819656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45152" y="1755648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그룹/일시/장소/멤버/위치공유/알림 6필드</a:t>
            </a:r>
          </a:p>
        </p:txBody>
      </p:sp>
      <p:sp>
        <p:nvSpPr>
          <p:cNvPr id="55" name="Oval 54"/>
          <p:cNvSpPr/>
          <p:nvPr/>
        </p:nvSpPr>
        <p:spPr>
          <a:xfrm>
            <a:off x="4480560" y="2112264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45152" y="2048256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헤더 우측 '저장' 비활성→유효시 활성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206240" y="2834640"/>
            <a:ext cx="7498079" cy="16916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206240" y="2834640"/>
            <a:ext cx="73152" cy="16916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34840" y="2944368"/>
            <a:ext cx="71323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Interaction</a:t>
            </a:r>
          </a:p>
        </p:txBody>
      </p:sp>
      <p:sp>
        <p:nvSpPr>
          <p:cNvPr id="60" name="Oval 59"/>
          <p:cNvSpPr/>
          <p:nvPr/>
        </p:nvSpPr>
        <p:spPr>
          <a:xfrm>
            <a:off x="4480560" y="3310128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45152" y="3246120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그룹 선택 시 멤버 default 채워짐</a:t>
            </a:r>
          </a:p>
        </p:txBody>
      </p:sp>
      <p:sp>
        <p:nvSpPr>
          <p:cNvPr id="62" name="Oval 61"/>
          <p:cNvSpPr/>
          <p:nvPr/>
        </p:nvSpPr>
        <p:spPr>
          <a:xfrm>
            <a:off x="4480560" y="3602736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645152" y="3538728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장소 탭 → PlacePickerScreen</a:t>
            </a:r>
          </a:p>
        </p:txBody>
      </p:sp>
      <p:sp>
        <p:nvSpPr>
          <p:cNvPr id="64" name="Oval 63"/>
          <p:cNvSpPr/>
          <p:nvPr/>
        </p:nvSpPr>
        <p:spPr>
          <a:xfrm>
            <a:off x="4480560" y="3895344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645152" y="3831336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위치공유 시각: 10/20/30/60분 선택 sheet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206240" y="4617720"/>
            <a:ext cx="7498079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0" y="4617720"/>
            <a:ext cx="73152" cy="1828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34840" y="4727448"/>
            <a:ext cx="71323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Design Note</a:t>
            </a:r>
          </a:p>
        </p:txBody>
      </p:sp>
      <p:sp>
        <p:nvSpPr>
          <p:cNvPr id="69" name="Oval 68"/>
          <p:cNvSpPr/>
          <p:nvPr/>
        </p:nvSpPr>
        <p:spPr>
          <a:xfrm>
            <a:off x="4480560" y="5093208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45152" y="5029200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빈 필드는 placeholder가 라벨처럼 보이도록</a:t>
            </a:r>
          </a:p>
        </p:txBody>
      </p:sp>
      <p:sp>
        <p:nvSpPr>
          <p:cNvPr id="71" name="Oval 70"/>
          <p:cNvSpPr/>
          <p:nvPr/>
        </p:nvSpPr>
        <p:spPr>
          <a:xfrm>
            <a:off x="4480560" y="5385816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645152" y="5321808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필수 미입력 시 행 테두리 DANGER 강조</a:t>
            </a:r>
          </a:p>
        </p:txBody>
      </p:sp>
      <p:sp>
        <p:nvSpPr>
          <p:cNvPr id="73" name="Oval 72"/>
          <p:cNvSpPr/>
          <p:nvPr/>
        </p:nvSpPr>
        <p:spPr>
          <a:xfrm>
            <a:off x="4480560" y="5678424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645152" y="5614416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스크롤 시 헤더 컴팩트 모드 (iOS 패턴)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MeetPod — 화면 설계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5B7CFA"/>
                </a:solidFill>
                <a:latin typeface="맑은 고딕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188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약속 지도  ·  MeetupMapScreen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맑은 고딕"/>
              </a:rPr>
              <a:t>Route: /meetups/:id/map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51560"/>
            <a:ext cx="2736342" cy="5616702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7687" y="1109167"/>
            <a:ext cx="2621128" cy="5501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00200" y="1205179"/>
            <a:ext cx="816102" cy="19202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0508" y="1233982"/>
            <a:ext cx="576072" cy="1728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0F172A"/>
                </a:solidFill>
                <a:latin typeface="맑은 고딕"/>
              </a:rPr>
              <a:t>9:41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96362" y="1272386"/>
            <a:ext cx="76809" cy="6720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92374" y="1272386"/>
            <a:ext cx="76809" cy="6720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8386" y="1272386"/>
            <a:ext cx="172821" cy="7680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80185" y="6495441"/>
            <a:ext cx="1056132" cy="48006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7687" y="1512417"/>
            <a:ext cx="2621128" cy="4906214"/>
          </a:xfrm>
          <a:prstGeom prst="rect">
            <a:avLst/>
          </a:prstGeom>
          <a:solidFill>
            <a:srgbClr val="E3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7687" y="1512417"/>
            <a:ext cx="2621128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7687" y="1923897"/>
            <a:ext cx="2621128" cy="45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" y="1603857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5B7CFA"/>
                </a:solidFill>
                <a:latin typeface="맑은 고딕"/>
              </a:rPr>
              <a:t>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" y="1631289"/>
            <a:ext cx="2621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맑은 고딕"/>
              </a:rPr>
              <a:t>지도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7687" y="1923897"/>
            <a:ext cx="2621128" cy="2940254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54887" y="1923897"/>
            <a:ext cx="54864" cy="29402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86407" y="1923897"/>
            <a:ext cx="54864" cy="29402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26487" y="1923897"/>
            <a:ext cx="54864" cy="29402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7687" y="2289657"/>
            <a:ext cx="2621128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7687" y="3021177"/>
            <a:ext cx="2621128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7687" y="3752697"/>
            <a:ext cx="2621128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7687" y="4484217"/>
            <a:ext cx="2621128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43659" y="3028264"/>
            <a:ext cx="329184" cy="329184"/>
          </a:xfrm>
          <a:prstGeom prst="ellipse">
            <a:avLst/>
          </a:prstGeom>
          <a:solidFill>
            <a:srgbClr val="EF4444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43659" y="3083128"/>
            <a:ext cx="3291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📍</a:t>
            </a:r>
          </a:p>
        </p:txBody>
      </p:sp>
      <p:sp>
        <p:nvSpPr>
          <p:cNvPr id="31" name="Oval 30"/>
          <p:cNvSpPr/>
          <p:nvPr/>
        </p:nvSpPr>
        <p:spPr>
          <a:xfrm>
            <a:off x="1246327" y="2472537"/>
            <a:ext cx="365760" cy="365760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46327" y="2538373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지</a:t>
            </a:r>
          </a:p>
        </p:txBody>
      </p:sp>
      <p:sp>
        <p:nvSpPr>
          <p:cNvPr id="33" name="Oval 32"/>
          <p:cNvSpPr/>
          <p:nvPr/>
        </p:nvSpPr>
        <p:spPr>
          <a:xfrm>
            <a:off x="2617927" y="2381097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17927" y="2446933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민</a:t>
            </a:r>
          </a:p>
        </p:txBody>
      </p:sp>
      <p:sp>
        <p:nvSpPr>
          <p:cNvPr id="35" name="Oval 34"/>
          <p:cNvSpPr/>
          <p:nvPr/>
        </p:nvSpPr>
        <p:spPr>
          <a:xfrm>
            <a:off x="1612087" y="4118457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12087" y="4184293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7687" y="4864151"/>
            <a:ext cx="2621128" cy="1554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779651" y="4937303"/>
            <a:ext cx="457200" cy="54864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2007" y="5047031"/>
            <a:ext cx="2621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맑은 고딕"/>
              </a:rPr>
              <a:t>참여자 위치</a:t>
            </a:r>
          </a:p>
        </p:txBody>
      </p:sp>
      <p:sp>
        <p:nvSpPr>
          <p:cNvPr id="40" name="Oval 39"/>
          <p:cNvSpPr/>
          <p:nvPr/>
        </p:nvSpPr>
        <p:spPr>
          <a:xfrm>
            <a:off x="972007" y="5367071"/>
            <a:ext cx="228600" cy="228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2007" y="5408219"/>
            <a:ext cx="2286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맑은 고딕"/>
              </a:rPr>
              <a:t>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37767" y="5403647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맑은 고딕"/>
              </a:rPr>
              <a:t>지수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38655" y="5403647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0B981"/>
                </a:solidFill>
                <a:latin typeface="맑은 고딕"/>
              </a:rPr>
              <a:t>도착</a:t>
            </a:r>
          </a:p>
        </p:txBody>
      </p:sp>
      <p:sp>
        <p:nvSpPr>
          <p:cNvPr id="44" name="Oval 43"/>
          <p:cNvSpPr/>
          <p:nvPr/>
        </p:nvSpPr>
        <p:spPr>
          <a:xfrm>
            <a:off x="972007" y="5677967"/>
            <a:ext cx="228600" cy="2286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2007" y="5719115"/>
            <a:ext cx="2286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맑은 고딕"/>
              </a:rPr>
              <a:t>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37767" y="5714543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맑은 고딕"/>
              </a:rPr>
              <a:t>민호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38655" y="5714543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F59E0B"/>
                </a:solidFill>
                <a:latin typeface="맑은 고딕"/>
              </a:rPr>
              <a:t>5분 거리</a:t>
            </a:r>
          </a:p>
        </p:txBody>
      </p:sp>
      <p:sp>
        <p:nvSpPr>
          <p:cNvPr id="48" name="Oval 47"/>
          <p:cNvSpPr/>
          <p:nvPr/>
        </p:nvSpPr>
        <p:spPr>
          <a:xfrm>
            <a:off x="972007" y="5988863"/>
            <a:ext cx="228600" cy="22860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2007" y="6030011"/>
            <a:ext cx="2286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맑은 고딕"/>
              </a:rPr>
              <a:t>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37767" y="6025439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맑은 고딕"/>
              </a:rPr>
              <a:t>서연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38655" y="6025439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F4444"/>
                </a:solidFill>
                <a:latin typeface="맑은 고딕"/>
              </a:rPr>
              <a:t>12분 거리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206240" y="1051560"/>
            <a:ext cx="7498079" cy="16916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206240" y="1051560"/>
            <a:ext cx="73152" cy="1691640"/>
          </a:xfrm>
          <a:prstGeom prst="rect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34840" y="1161288"/>
            <a:ext cx="71323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Layout</a:t>
            </a:r>
          </a:p>
        </p:txBody>
      </p:sp>
      <p:sp>
        <p:nvSpPr>
          <p:cNvPr id="55" name="Oval 54"/>
          <p:cNvSpPr/>
          <p:nvPr/>
        </p:nvSpPr>
        <p:spPr>
          <a:xfrm>
            <a:off x="4480560" y="1527048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45152" y="1463040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풀블리드 지도 + 도착지 핀 + 멤버 아바타 핀</a:t>
            </a:r>
          </a:p>
        </p:txBody>
      </p:sp>
      <p:sp>
        <p:nvSpPr>
          <p:cNvPr id="57" name="Oval 56"/>
          <p:cNvSpPr/>
          <p:nvPr/>
        </p:nvSpPr>
        <p:spPr>
          <a:xfrm>
            <a:off x="4480560" y="1819656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645152" y="1755648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하단 시트(드래그 핸들)에 참여자 ETA 리스트</a:t>
            </a:r>
          </a:p>
        </p:txBody>
      </p:sp>
      <p:sp>
        <p:nvSpPr>
          <p:cNvPr id="59" name="Oval 58"/>
          <p:cNvSpPr/>
          <p:nvPr/>
        </p:nvSpPr>
        <p:spPr>
          <a:xfrm>
            <a:off x="4480560" y="2112264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45152" y="2048256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상단 nav 반투명, 지도 위에 떠있음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206240" y="2834640"/>
            <a:ext cx="7498079" cy="16916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206240" y="2834640"/>
            <a:ext cx="73152" cy="16916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434840" y="2944368"/>
            <a:ext cx="71323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Interaction</a:t>
            </a:r>
          </a:p>
        </p:txBody>
      </p:sp>
      <p:sp>
        <p:nvSpPr>
          <p:cNvPr id="64" name="Oval 63"/>
          <p:cNvSpPr/>
          <p:nvPr/>
        </p:nvSpPr>
        <p:spPr>
          <a:xfrm>
            <a:off x="4480560" y="3310128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645152" y="3246120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멤버 핀 탭 → 채팅에서 해당 사용자 멘션</a:t>
            </a:r>
          </a:p>
        </p:txBody>
      </p:sp>
      <p:sp>
        <p:nvSpPr>
          <p:cNvPr id="66" name="Oval 65"/>
          <p:cNvSpPr/>
          <p:nvPr/>
        </p:nvSpPr>
        <p:spPr>
          <a:xfrm>
            <a:off x="4480560" y="3602736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645152" y="3538728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시트 드래그 → 풀스크린 리스트 모드</a:t>
            </a:r>
          </a:p>
        </p:txBody>
      </p:sp>
      <p:sp>
        <p:nvSpPr>
          <p:cNvPr id="68" name="Oval 67"/>
          <p:cNvSpPr/>
          <p:nvPr/>
        </p:nvSpPr>
        <p:spPr>
          <a:xfrm>
            <a:off x="4480560" y="3895344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645152" y="3831336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지도 길게 누름 → 임시 핀 (장소 카드 채팅 공유)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206240" y="4617720"/>
            <a:ext cx="7498079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206240" y="4617720"/>
            <a:ext cx="73152" cy="1828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434840" y="4727448"/>
            <a:ext cx="71323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Design Note</a:t>
            </a:r>
          </a:p>
        </p:txBody>
      </p:sp>
      <p:sp>
        <p:nvSpPr>
          <p:cNvPr id="73" name="Oval 72"/>
          <p:cNvSpPr/>
          <p:nvPr/>
        </p:nvSpPr>
        <p:spPr>
          <a:xfrm>
            <a:off x="4480560" y="5093208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645152" y="5029200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멤버 색은 프로필 색 일관 (브랜드 토큰화)</a:t>
            </a:r>
          </a:p>
        </p:txBody>
      </p:sp>
      <p:sp>
        <p:nvSpPr>
          <p:cNvPr id="75" name="Oval 74"/>
          <p:cNvSpPr/>
          <p:nvPr/>
        </p:nvSpPr>
        <p:spPr>
          <a:xfrm>
            <a:off x="4480560" y="5385816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645152" y="5321808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위치공유 OFF 멤버는 시트에 'OFF' 회색 처리</a:t>
            </a:r>
          </a:p>
        </p:txBody>
      </p:sp>
      <p:sp>
        <p:nvSpPr>
          <p:cNvPr id="77" name="Oval 76"/>
          <p:cNvSpPr/>
          <p:nvPr/>
        </p:nvSpPr>
        <p:spPr>
          <a:xfrm>
            <a:off x="4480560" y="5678424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645152" y="5614416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줌 레벨은 모든 핀이 보이게 자동 fit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MeetPod — 화면 설계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5B7CFA"/>
                </a:solidFill>
                <a:latin typeface="맑은 고딕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188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그룹 목록  ·  GroupListScreen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맑은 고딕"/>
              </a:rPr>
              <a:t>Route: /groups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51560"/>
            <a:ext cx="2736342" cy="5616702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7687" y="1109167"/>
            <a:ext cx="2621128" cy="5501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00200" y="1205179"/>
            <a:ext cx="816102" cy="19202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0508" y="1233982"/>
            <a:ext cx="576072" cy="1728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0F172A"/>
                </a:solidFill>
                <a:latin typeface="맑은 고딕"/>
              </a:rPr>
              <a:t>9:41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96362" y="1272386"/>
            <a:ext cx="76809" cy="6720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92374" y="1272386"/>
            <a:ext cx="76809" cy="6720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8386" y="1272386"/>
            <a:ext cx="172821" cy="7680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80185" y="6495441"/>
            <a:ext cx="1056132" cy="48006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7687" y="1512417"/>
            <a:ext cx="2621128" cy="4906214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7687" y="1512417"/>
            <a:ext cx="2621128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2007" y="1695297"/>
            <a:ext cx="26211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맑은 고딕"/>
              </a:rPr>
              <a:t>그룹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8735" y="1805025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5B7CFA"/>
                </a:solidFill>
                <a:latin typeface="맑은 고딕"/>
              </a:rPr>
              <a:t>+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287" y="2426817"/>
            <a:ext cx="2163928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63447" y="2545689"/>
            <a:ext cx="548640" cy="548640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3447" y="2644444"/>
            <a:ext cx="548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03527" y="2591409"/>
            <a:ext cx="13409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대학동기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03527" y="2865729"/>
            <a:ext cx="13409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맑은 고딕"/>
              </a:rPr>
              <a:t>12명 · 다가오는 약속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61615" y="2701137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맑은 고딕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6287" y="3295497"/>
            <a:ext cx="2163928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63447" y="3414369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3447" y="3513124"/>
            <a:ext cx="548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3527" y="3460089"/>
            <a:ext cx="13409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OO산악회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3527" y="3734409"/>
            <a:ext cx="13409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맑은 고딕"/>
              </a:rPr>
              <a:t>12명 · 다가오는 약속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61615" y="3569817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맑은 고딕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6287" y="4164177"/>
            <a:ext cx="2163928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63447" y="4283049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3447" y="4381804"/>
            <a:ext cx="548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03527" y="4328769"/>
            <a:ext cx="13409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육아맘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03527" y="4603089"/>
            <a:ext cx="13409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맑은 고딕"/>
              </a:rPr>
              <a:t>4명 · 다가오는 약속 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61615" y="4438497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맑은 고딕"/>
              </a:rPr>
              <a:t>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6287" y="5032856"/>
            <a:ext cx="2163928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63447" y="5151728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3447" y="5250483"/>
            <a:ext cx="548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03527" y="5197448"/>
            <a:ext cx="13409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치킨집사장모임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03527" y="5471768"/>
            <a:ext cx="13409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맑은 고딕"/>
              </a:rPr>
              <a:t>8명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61615" y="530717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맑은 고딕"/>
              </a:rPr>
              <a:t>›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7687" y="6052871"/>
            <a:ext cx="2621128" cy="45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97687" y="6057443"/>
            <a:ext cx="2621128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7687" y="6098591"/>
            <a:ext cx="65528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맑은 고딕"/>
              </a:rPr>
              <a:t>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7687" y="6272327"/>
            <a:ext cx="655282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맑은 고딕"/>
              </a:rPr>
              <a:t>약속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52969" y="6098591"/>
            <a:ext cx="65528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B7CFA"/>
                </a:solidFill>
                <a:latin typeface="맑은 고딕"/>
              </a:rPr>
              <a:t>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52969" y="6272327"/>
            <a:ext cx="655282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5B7CFA"/>
                </a:solidFill>
                <a:latin typeface="맑은 고딕"/>
              </a:rPr>
              <a:t>그룹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08251" y="6098591"/>
            <a:ext cx="65528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맑은 고딕"/>
              </a:rPr>
              <a:t>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08251" y="6272327"/>
            <a:ext cx="655282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맑은 고딕"/>
              </a:rPr>
              <a:t>채팅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63533" y="6098591"/>
            <a:ext cx="65528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맑은 고딕"/>
              </a:rPr>
              <a:t>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63533" y="6272327"/>
            <a:ext cx="655282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맑은 고딕"/>
              </a:rPr>
              <a:t>Me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206240" y="1051560"/>
            <a:ext cx="7498079" cy="16916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206240" y="1051560"/>
            <a:ext cx="73152" cy="1691640"/>
          </a:xfrm>
          <a:prstGeom prst="rect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34840" y="1161288"/>
            <a:ext cx="71323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Layout</a:t>
            </a:r>
          </a:p>
        </p:txBody>
      </p:sp>
      <p:sp>
        <p:nvSpPr>
          <p:cNvPr id="57" name="Oval 56"/>
          <p:cNvSpPr/>
          <p:nvPr/>
        </p:nvSpPr>
        <p:spPr>
          <a:xfrm>
            <a:off x="4480560" y="1527048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645152" y="1463040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대형 타이틀 + 우측 상단 '+' (그룹 생성)</a:t>
            </a:r>
          </a:p>
        </p:txBody>
      </p:sp>
      <p:sp>
        <p:nvSpPr>
          <p:cNvPr id="59" name="Oval 58"/>
          <p:cNvSpPr/>
          <p:nvPr/>
        </p:nvSpPr>
        <p:spPr>
          <a:xfrm>
            <a:off x="4480560" y="1819656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45152" y="1755648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카드: 원형 아바타 + 이름 + 멤버수/약속수</a:t>
            </a:r>
          </a:p>
        </p:txBody>
      </p:sp>
      <p:sp>
        <p:nvSpPr>
          <p:cNvPr id="61" name="Oval 60"/>
          <p:cNvSpPr/>
          <p:nvPr/>
        </p:nvSpPr>
        <p:spPr>
          <a:xfrm>
            <a:off x="4480560" y="2112264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45152" y="2048256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카드 우측 chevron(›)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206240" y="2834640"/>
            <a:ext cx="7498079" cy="16916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206240" y="2834640"/>
            <a:ext cx="73152" cy="16916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434840" y="2944368"/>
            <a:ext cx="71323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Interaction</a:t>
            </a:r>
          </a:p>
        </p:txBody>
      </p:sp>
      <p:sp>
        <p:nvSpPr>
          <p:cNvPr id="66" name="Oval 65"/>
          <p:cNvSpPr/>
          <p:nvPr/>
        </p:nvSpPr>
        <p:spPr>
          <a:xfrm>
            <a:off x="4480560" y="3310128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645152" y="3246120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카드 탭 → GroupDetailScreen</a:t>
            </a:r>
          </a:p>
        </p:txBody>
      </p:sp>
      <p:sp>
        <p:nvSpPr>
          <p:cNvPr id="68" name="Oval 67"/>
          <p:cNvSpPr/>
          <p:nvPr/>
        </p:nvSpPr>
        <p:spPr>
          <a:xfrm>
            <a:off x="4480560" y="3602736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645152" y="3538728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+ 탭 → GroupCreateScreen</a:t>
            </a:r>
          </a:p>
        </p:txBody>
      </p:sp>
      <p:sp>
        <p:nvSpPr>
          <p:cNvPr id="70" name="Oval 69"/>
          <p:cNvSpPr/>
          <p:nvPr/>
        </p:nvSpPr>
        <p:spPr>
          <a:xfrm>
            <a:off x="4480560" y="3895344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45152" y="3831336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길게 누름 → 컨텍스트 메뉴 (나가기 등)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206240" y="4617720"/>
            <a:ext cx="7498079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206240" y="4617720"/>
            <a:ext cx="73152" cy="1828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434840" y="4727448"/>
            <a:ext cx="71323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Design Note</a:t>
            </a:r>
          </a:p>
        </p:txBody>
      </p:sp>
      <p:sp>
        <p:nvSpPr>
          <p:cNvPr id="75" name="Oval 74"/>
          <p:cNvSpPr/>
          <p:nvPr/>
        </p:nvSpPr>
        <p:spPr>
          <a:xfrm>
            <a:off x="4480560" y="5093208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645152" y="5029200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아바타 색은 그룹 ID 해시로 결정 (일관 색상)</a:t>
            </a:r>
          </a:p>
        </p:txBody>
      </p:sp>
      <p:sp>
        <p:nvSpPr>
          <p:cNvPr id="77" name="Oval 76"/>
          <p:cNvSpPr/>
          <p:nvPr/>
        </p:nvSpPr>
        <p:spPr>
          <a:xfrm>
            <a:off x="4480560" y="5385816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645152" y="5321808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그룹이 없으면 일러스트 + '첫 그룹 만들기' 빈 상태</a:t>
            </a:r>
          </a:p>
        </p:txBody>
      </p:sp>
      <p:sp>
        <p:nvSpPr>
          <p:cNvPr id="79" name="Oval 78"/>
          <p:cNvSpPr/>
          <p:nvPr/>
        </p:nvSpPr>
        <p:spPr>
          <a:xfrm>
            <a:off x="4480560" y="5678424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645152" y="5614416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검색 바는 5개 이상부터 노출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MeetPod — 화면 설계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5B7CFA"/>
                </a:solidFill>
                <a:latin typeface="맑은 고딕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188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그룹 상세  ·  GroupDetailScreen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맑은 고딕"/>
              </a:rPr>
              <a:t>Route: /groups/:id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51560"/>
            <a:ext cx="2736342" cy="5616702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7687" y="1109167"/>
            <a:ext cx="2621128" cy="5501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00200" y="1205179"/>
            <a:ext cx="816102" cy="19202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0508" y="1233982"/>
            <a:ext cx="576072" cy="1728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0F172A"/>
                </a:solidFill>
                <a:latin typeface="맑은 고딕"/>
              </a:rPr>
              <a:t>9:41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96362" y="1272386"/>
            <a:ext cx="76809" cy="6720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92374" y="1272386"/>
            <a:ext cx="76809" cy="6720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8386" y="1272386"/>
            <a:ext cx="172821" cy="7680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80185" y="6495441"/>
            <a:ext cx="1056132" cy="48006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7687" y="1512417"/>
            <a:ext cx="2621128" cy="4906214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7687" y="1512417"/>
            <a:ext cx="2621128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7687" y="1923897"/>
            <a:ext cx="2621128" cy="45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" y="1603857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5B7CFA"/>
                </a:solidFill>
                <a:latin typeface="맑은 고딕"/>
              </a:rPr>
              <a:t>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" y="1631289"/>
            <a:ext cx="2621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맑은 고딕"/>
              </a:rPr>
              <a:t>그룹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0175" y="1640433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5B7CFA"/>
                </a:solidFill>
                <a:latin typeface="맑은 고딕"/>
              </a:rPr>
              <a:t>•••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6287" y="2015337"/>
            <a:ext cx="2163928" cy="1371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642491" y="2179929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42491" y="2311602"/>
            <a:ext cx="7315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687" y="2975457"/>
            <a:ext cx="2621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맑은 고딕"/>
              </a:rPr>
              <a:t>OO산악회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7687" y="3204057"/>
            <a:ext cx="2621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맑은 고딕"/>
              </a:rPr>
              <a:t>12명 · 방장 태훈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6287" y="3569817"/>
            <a:ext cx="675589" cy="6400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6287" y="3661257"/>
            <a:ext cx="67558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B7CFA"/>
                </a:solidFill>
                <a:latin typeface="맑은 고딕"/>
              </a:rPr>
              <a:t>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287" y="3935577"/>
            <a:ext cx="67558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맑은 고딕"/>
              </a:rPr>
              <a:t>약속 만들기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47596" y="3569817"/>
            <a:ext cx="675589" cy="6400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47596" y="3661257"/>
            <a:ext cx="67558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B7CFA"/>
                </a:solidFill>
                <a:latin typeface="맑은 고딕"/>
              </a:rPr>
              <a:t>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7596" y="3935577"/>
            <a:ext cx="67558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맑은 고딕"/>
              </a:rPr>
              <a:t>멤버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368905" y="3569817"/>
            <a:ext cx="675589" cy="6400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68905" y="3661257"/>
            <a:ext cx="67558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B7CFA"/>
                </a:solidFill>
                <a:latin typeface="맑은 고딕"/>
              </a:rPr>
              <a:t>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68905" y="3935577"/>
            <a:ext cx="67558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맑은 고딕"/>
              </a:rPr>
              <a:t>초대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2007" y="4438497"/>
            <a:ext cx="2621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맑은 고딕"/>
              </a:rPr>
              <a:t>다가오는 약속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6287" y="4758537"/>
            <a:ext cx="2163928" cy="7772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26287" y="4758537"/>
            <a:ext cx="91440" cy="77724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09167" y="4831689"/>
            <a:ext cx="198104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맑은 고딕"/>
              </a:rPr>
              <a:t>토 06:00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9167" y="5005425"/>
            <a:ext cx="1981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맑은 고딕"/>
              </a:rPr>
              <a:t>수락산 산행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9167" y="5279745"/>
            <a:ext cx="198104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맑은 고딕"/>
              </a:rPr>
              <a:t>수락산 입구 · 11명 참여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6287" y="5764377"/>
            <a:ext cx="2163928" cy="502920"/>
          </a:xfrm>
          <a:prstGeom prst="roundRect">
            <a:avLst>
              <a:gd name="adj" fmla="val 50000"/>
            </a:avLst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6287" y="5910681"/>
            <a:ext cx="21639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💬 그룹 채팅 열기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06240" y="1051560"/>
            <a:ext cx="7498079" cy="16916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206240" y="1051560"/>
            <a:ext cx="73152" cy="1691640"/>
          </a:xfrm>
          <a:prstGeom prst="rect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34840" y="1161288"/>
            <a:ext cx="71323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Layout</a:t>
            </a:r>
          </a:p>
        </p:txBody>
      </p:sp>
      <p:sp>
        <p:nvSpPr>
          <p:cNvPr id="47" name="Oval 46"/>
          <p:cNvSpPr/>
          <p:nvPr/>
        </p:nvSpPr>
        <p:spPr>
          <a:xfrm>
            <a:off x="4480560" y="1527048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45152" y="1463040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상단 카드: 그룹 아바타·이름·멤버수·방장</a:t>
            </a:r>
          </a:p>
        </p:txBody>
      </p:sp>
      <p:sp>
        <p:nvSpPr>
          <p:cNvPr id="49" name="Oval 48"/>
          <p:cNvSpPr/>
          <p:nvPr/>
        </p:nvSpPr>
        <p:spPr>
          <a:xfrm>
            <a:off x="4480560" y="1819656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45152" y="1755648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액션 3버튼: 약속 만들기 / 멤버 / 초대</a:t>
            </a:r>
          </a:p>
        </p:txBody>
      </p:sp>
      <p:sp>
        <p:nvSpPr>
          <p:cNvPr id="51" name="Oval 50"/>
          <p:cNvSpPr/>
          <p:nvPr/>
        </p:nvSpPr>
        <p:spPr>
          <a:xfrm>
            <a:off x="4480560" y="2112264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45152" y="2048256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다가오는 약속 1행 + 그룹 채팅 CTA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206240" y="2834640"/>
            <a:ext cx="7498079" cy="16916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0" y="2834640"/>
            <a:ext cx="73152" cy="16916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34840" y="2944368"/>
            <a:ext cx="71323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Interaction</a:t>
            </a:r>
          </a:p>
        </p:txBody>
      </p:sp>
      <p:sp>
        <p:nvSpPr>
          <p:cNvPr id="56" name="Oval 55"/>
          <p:cNvSpPr/>
          <p:nvPr/>
        </p:nvSpPr>
        <p:spPr>
          <a:xfrm>
            <a:off x="4480560" y="3310128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45152" y="3246120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•••: 그룹 정보 편집 (owner/admin), 나가기</a:t>
            </a:r>
          </a:p>
        </p:txBody>
      </p:sp>
      <p:sp>
        <p:nvSpPr>
          <p:cNvPr id="58" name="Oval 57"/>
          <p:cNvSpPr/>
          <p:nvPr/>
        </p:nvSpPr>
        <p:spPr>
          <a:xfrm>
            <a:off x="4480560" y="3602736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45152" y="3538728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멤버 탭 → GroupMembersScreen (역할 표시)</a:t>
            </a:r>
          </a:p>
        </p:txBody>
      </p:sp>
      <p:sp>
        <p:nvSpPr>
          <p:cNvPr id="60" name="Oval 59"/>
          <p:cNvSpPr/>
          <p:nvPr/>
        </p:nvSpPr>
        <p:spPr>
          <a:xfrm>
            <a:off x="4480560" y="3895344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45152" y="3831336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초대 탭 → GroupInviteScreen (링크/QR)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206240" y="4617720"/>
            <a:ext cx="7498079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206240" y="4617720"/>
            <a:ext cx="73152" cy="1828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434840" y="4727448"/>
            <a:ext cx="71323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Design Note</a:t>
            </a:r>
          </a:p>
        </p:txBody>
      </p:sp>
      <p:sp>
        <p:nvSpPr>
          <p:cNvPr id="65" name="Oval 64"/>
          <p:cNvSpPr/>
          <p:nvPr/>
        </p:nvSpPr>
        <p:spPr>
          <a:xfrm>
            <a:off x="4480560" y="5093208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645152" y="5029200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방장 위임은 멤버 화면에서 처리 (이 화면엔 노출 X)</a:t>
            </a:r>
          </a:p>
        </p:txBody>
      </p:sp>
      <p:sp>
        <p:nvSpPr>
          <p:cNvPr id="67" name="Oval 66"/>
          <p:cNvSpPr/>
          <p:nvPr/>
        </p:nvSpPr>
        <p:spPr>
          <a:xfrm>
            <a:off x="4480560" y="5385816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645152" y="5321808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다가오는 약속 0개면 빈 상태 + CTA</a:t>
            </a:r>
          </a:p>
        </p:txBody>
      </p:sp>
      <p:sp>
        <p:nvSpPr>
          <p:cNvPr id="69" name="Oval 68"/>
          <p:cNvSpPr/>
          <p:nvPr/>
        </p:nvSpPr>
        <p:spPr>
          <a:xfrm>
            <a:off x="4480560" y="5678424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45152" y="5614416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스크롤 시 헤더 카드 collapse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MeetPod — 화면 설계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5B7CFA"/>
                </a:solidFill>
                <a:latin typeface="맑은 고딕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188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채팅 목록  ·  ChatListScreen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맑은 고딕"/>
              </a:rPr>
              <a:t>Route: /chats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51560"/>
            <a:ext cx="2736342" cy="5616702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7687" y="1109167"/>
            <a:ext cx="2621128" cy="5501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00200" y="1205179"/>
            <a:ext cx="816102" cy="19202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0508" y="1233982"/>
            <a:ext cx="576072" cy="1728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0F172A"/>
                </a:solidFill>
                <a:latin typeface="맑은 고딕"/>
              </a:rPr>
              <a:t>9:41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96362" y="1272386"/>
            <a:ext cx="76809" cy="6720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92374" y="1272386"/>
            <a:ext cx="76809" cy="6720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8386" y="1272386"/>
            <a:ext cx="172821" cy="7680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80185" y="6495441"/>
            <a:ext cx="1056132" cy="48006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7687" y="1512417"/>
            <a:ext cx="2621128" cy="4906214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7687" y="1512417"/>
            <a:ext cx="2621128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2007" y="1695297"/>
            <a:ext cx="26211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맑은 고딕"/>
              </a:rPr>
              <a:t>채팅</a:t>
            </a:r>
          </a:p>
        </p:txBody>
      </p:sp>
      <p:sp>
        <p:nvSpPr>
          <p:cNvPr id="19" name="Oval 18"/>
          <p:cNvSpPr/>
          <p:nvPr/>
        </p:nvSpPr>
        <p:spPr>
          <a:xfrm>
            <a:off x="972007" y="2454249"/>
            <a:ext cx="548640" cy="548640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2007" y="2553004"/>
            <a:ext cx="548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12087" y="2426817"/>
            <a:ext cx="609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맑은 고딕"/>
              </a:rPr>
              <a:t>대학동기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12087" y="2701137"/>
            <a:ext cx="11580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민호: 다음주 어디서 만날까?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50135" y="2426817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맑은 고딕"/>
              </a:rPr>
              <a:t>오후 2:14</a:t>
            </a:r>
          </a:p>
        </p:txBody>
      </p:sp>
      <p:sp>
        <p:nvSpPr>
          <p:cNvPr id="24" name="Oval 23"/>
          <p:cNvSpPr/>
          <p:nvPr/>
        </p:nvSpPr>
        <p:spPr>
          <a:xfrm>
            <a:off x="2815895" y="2719425"/>
            <a:ext cx="274320" cy="274320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15895" y="2756001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612087" y="3094329"/>
            <a:ext cx="1706728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972007" y="3231489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2007" y="3330244"/>
            <a:ext cx="548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12087" y="3204057"/>
            <a:ext cx="609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맑은 고딕"/>
              </a:rPr>
              <a:t>강남역 저녁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12087" y="3478377"/>
            <a:ext cx="11580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지수: 5분 안에 도착!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50135" y="3204057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맑은 고딕"/>
              </a:rPr>
              <a:t>오후 1:50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612087" y="3871569"/>
            <a:ext cx="1706728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972007" y="4008729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2007" y="4107484"/>
            <a:ext cx="548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12087" y="3981297"/>
            <a:ext cx="609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맑은 고딕"/>
              </a:rPr>
              <a:t>OO산악회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12087" y="4255617"/>
            <a:ext cx="11580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태훈: 사진 공유합니다 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50135" y="3981297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맑은 고딕"/>
              </a:rPr>
              <a:t>오전 11:32</a:t>
            </a:r>
          </a:p>
        </p:txBody>
      </p:sp>
      <p:sp>
        <p:nvSpPr>
          <p:cNvPr id="38" name="Oval 37"/>
          <p:cNvSpPr/>
          <p:nvPr/>
        </p:nvSpPr>
        <p:spPr>
          <a:xfrm>
            <a:off x="2815895" y="4273905"/>
            <a:ext cx="274320" cy="274320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15895" y="4310481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612087" y="4648809"/>
            <a:ext cx="1706728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972007" y="4785969"/>
            <a:ext cx="548640" cy="548640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2007" y="4884724"/>
            <a:ext cx="548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동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12087" y="4758537"/>
            <a:ext cx="609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맑은 고딕"/>
              </a:rPr>
              <a:t>동네책방 모임 (지난)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12087" y="5032857"/>
            <a:ext cx="11580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서연: 즐거웠어요~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50135" y="4758537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맑은 고딕"/>
              </a:rPr>
              <a:t>어제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312975" y="5051145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12975" y="5087355"/>
            <a:ext cx="640080" cy="1408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94A3B8"/>
                </a:solidFill>
                <a:latin typeface="맑은 고딕"/>
              </a:rPr>
              <a:t>지난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612087" y="5426049"/>
            <a:ext cx="1706728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697687" y="6052871"/>
            <a:ext cx="2621128" cy="45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97687" y="6057443"/>
            <a:ext cx="2621128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7687" y="6098591"/>
            <a:ext cx="65528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맑은 고딕"/>
              </a:rPr>
              <a:t>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7687" y="6272327"/>
            <a:ext cx="655282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맑은 고딕"/>
              </a:rPr>
              <a:t>약속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52969" y="6098591"/>
            <a:ext cx="65528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맑은 고딕"/>
              </a:rPr>
              <a:t>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52969" y="6272327"/>
            <a:ext cx="655282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맑은 고딕"/>
              </a:rPr>
              <a:t>그룹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08251" y="6098591"/>
            <a:ext cx="65528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B7CFA"/>
                </a:solidFill>
                <a:latin typeface="맑은 고딕"/>
              </a:rPr>
              <a:t>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08251" y="6272327"/>
            <a:ext cx="655282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5B7CFA"/>
                </a:solidFill>
                <a:latin typeface="맑은 고딕"/>
              </a:rPr>
              <a:t>채팅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63533" y="6098591"/>
            <a:ext cx="65528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맑은 고딕"/>
              </a:rPr>
              <a:t>👤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63533" y="6272327"/>
            <a:ext cx="655282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맑은 고딕"/>
              </a:rPr>
              <a:t>Me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206240" y="1051560"/>
            <a:ext cx="7498079" cy="16916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206240" y="1051560"/>
            <a:ext cx="73152" cy="1691640"/>
          </a:xfrm>
          <a:prstGeom prst="rect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34840" y="1161288"/>
            <a:ext cx="71323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Layout</a:t>
            </a:r>
          </a:p>
        </p:txBody>
      </p:sp>
      <p:sp>
        <p:nvSpPr>
          <p:cNvPr id="62" name="Oval 61"/>
          <p:cNvSpPr/>
          <p:nvPr/>
        </p:nvSpPr>
        <p:spPr>
          <a:xfrm>
            <a:off x="4480560" y="1527048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645152" y="1463040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대형 타이틀 + 채팅 행 리스트</a:t>
            </a:r>
          </a:p>
        </p:txBody>
      </p:sp>
      <p:sp>
        <p:nvSpPr>
          <p:cNvPr id="64" name="Oval 63"/>
          <p:cNvSpPr/>
          <p:nvPr/>
        </p:nvSpPr>
        <p:spPr>
          <a:xfrm>
            <a:off x="4480560" y="1819656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645152" y="1755648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행: 아바타 + 이름 + 마지막 메시지 + 시간 + 뱃지</a:t>
            </a:r>
          </a:p>
        </p:txBody>
      </p:sp>
      <p:sp>
        <p:nvSpPr>
          <p:cNvPr id="66" name="Oval 65"/>
          <p:cNvSpPr/>
          <p:nvPr/>
        </p:nvSpPr>
        <p:spPr>
          <a:xfrm>
            <a:off x="4480560" y="2112264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645152" y="2048256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지난 약속은 'pill: 지난' + MUTED 톤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206240" y="2834640"/>
            <a:ext cx="7498079" cy="16916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206240" y="2834640"/>
            <a:ext cx="73152" cy="16916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434840" y="2944368"/>
            <a:ext cx="71323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Interaction</a:t>
            </a:r>
          </a:p>
        </p:txBody>
      </p:sp>
      <p:sp>
        <p:nvSpPr>
          <p:cNvPr id="71" name="Oval 70"/>
          <p:cNvSpPr/>
          <p:nvPr/>
        </p:nvSpPr>
        <p:spPr>
          <a:xfrm>
            <a:off x="4480560" y="3310128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645152" y="3246120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행 탭 → ChatRoomScreen</a:t>
            </a:r>
          </a:p>
        </p:txBody>
      </p:sp>
      <p:sp>
        <p:nvSpPr>
          <p:cNvPr id="73" name="Oval 72"/>
          <p:cNvSpPr/>
          <p:nvPr/>
        </p:nvSpPr>
        <p:spPr>
          <a:xfrm>
            <a:off x="4480560" y="3602736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645152" y="3538728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왼쪽 swipe → 음소거/나가기 액션</a:t>
            </a:r>
          </a:p>
        </p:txBody>
      </p:sp>
      <p:sp>
        <p:nvSpPr>
          <p:cNvPr id="75" name="Oval 74"/>
          <p:cNvSpPr/>
          <p:nvPr/>
        </p:nvSpPr>
        <p:spPr>
          <a:xfrm>
            <a:off x="4480560" y="3895344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645152" y="3831336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검색은 상단 pull-down으로 노출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206240" y="4617720"/>
            <a:ext cx="7498079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206240" y="4617720"/>
            <a:ext cx="73152" cy="1828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434840" y="4727448"/>
            <a:ext cx="71323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Design Note</a:t>
            </a:r>
          </a:p>
        </p:txBody>
      </p:sp>
      <p:sp>
        <p:nvSpPr>
          <p:cNvPr id="80" name="Oval 79"/>
          <p:cNvSpPr/>
          <p:nvPr/>
        </p:nvSpPr>
        <p:spPr>
          <a:xfrm>
            <a:off x="4480560" y="5093208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645152" y="5029200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뱃지는 30 이상이면 '30+', 99 이상은 '99+'</a:t>
            </a:r>
          </a:p>
        </p:txBody>
      </p:sp>
      <p:sp>
        <p:nvSpPr>
          <p:cNvPr id="82" name="Oval 81"/>
          <p:cNvSpPr/>
          <p:nvPr/>
        </p:nvSpPr>
        <p:spPr>
          <a:xfrm>
            <a:off x="4480560" y="5385816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645152" y="5321808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지난 약속은 별도 섹션 헤더로 묶을 수 있음 (Phase 2)</a:t>
            </a:r>
          </a:p>
        </p:txBody>
      </p:sp>
      <p:sp>
        <p:nvSpPr>
          <p:cNvPr id="84" name="Oval 83"/>
          <p:cNvSpPr/>
          <p:nvPr/>
        </p:nvSpPr>
        <p:spPr>
          <a:xfrm>
            <a:off x="4480560" y="5678424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645152" y="5614416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마지막 메시지는 1줄 ellipsis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MeetPod — 화면 설계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5B7CFA"/>
                </a:solidFill>
                <a:latin typeface="맑은 고딕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188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채팅방  ·  ChatRoomScreen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맑은 고딕"/>
              </a:rPr>
              <a:t>Route: /chats/:room_id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51560"/>
            <a:ext cx="2736342" cy="5616702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7687" y="1109167"/>
            <a:ext cx="2621128" cy="5501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00200" y="1205179"/>
            <a:ext cx="816102" cy="19202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0508" y="1233982"/>
            <a:ext cx="576072" cy="1728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0F172A"/>
                </a:solidFill>
                <a:latin typeface="맑은 고딕"/>
              </a:rPr>
              <a:t>9:41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96362" y="1272386"/>
            <a:ext cx="76809" cy="6720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92374" y="1272386"/>
            <a:ext cx="76809" cy="6720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8386" y="1272386"/>
            <a:ext cx="172821" cy="7680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80185" y="6495441"/>
            <a:ext cx="1056132" cy="48006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7687" y="1512417"/>
            <a:ext cx="2621128" cy="4906214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7687" y="1512417"/>
            <a:ext cx="2621128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7687" y="1923897"/>
            <a:ext cx="2621128" cy="45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" y="1603857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5B7CFA"/>
                </a:solidFill>
                <a:latin typeface="맑은 고딕"/>
              </a:rPr>
              <a:t>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" y="1631289"/>
            <a:ext cx="2621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맑은 고딕"/>
              </a:rPr>
              <a:t>강남역 저녁  ·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0175" y="1640433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5B7CFA"/>
                </a:solidFill>
                <a:latin typeface="맑은 고딕"/>
              </a:rPr>
              <a:t>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6287" y="1969617"/>
            <a:ext cx="2163928" cy="365760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3447" y="2061057"/>
            <a:ext cx="198104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B7CFA"/>
                </a:solidFill>
                <a:latin typeface="맑은 고딕"/>
              </a:rPr>
              <a:t>📡 18:40부터 위치 공유가 시작돼요</a:t>
            </a:r>
          </a:p>
        </p:txBody>
      </p:sp>
      <p:sp>
        <p:nvSpPr>
          <p:cNvPr id="24" name="Oval 23"/>
          <p:cNvSpPr/>
          <p:nvPr/>
        </p:nvSpPr>
        <p:spPr>
          <a:xfrm>
            <a:off x="926287" y="2518257"/>
            <a:ext cx="274320" cy="274320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287" y="2567634"/>
            <a:ext cx="274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맑은 고딕"/>
              </a:rPr>
              <a:t>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92047" y="2472537"/>
            <a:ext cx="1554480" cy="384048"/>
          </a:xfrm>
          <a:prstGeom prst="roundRect">
            <a:avLst>
              <a:gd name="adj" fmla="val 4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0919" y="2563977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거의 다 왔어!</a:t>
            </a:r>
          </a:p>
        </p:txBody>
      </p:sp>
      <p:sp>
        <p:nvSpPr>
          <p:cNvPr id="28" name="Oval 27"/>
          <p:cNvSpPr/>
          <p:nvPr/>
        </p:nvSpPr>
        <p:spPr>
          <a:xfrm>
            <a:off x="926287" y="3021177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6287" y="3070554"/>
            <a:ext cx="274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맑은 고딕"/>
              </a:rPr>
              <a:t>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92047" y="2975457"/>
            <a:ext cx="1554480" cy="384048"/>
          </a:xfrm>
          <a:prstGeom prst="roundRect">
            <a:avLst>
              <a:gd name="adj" fmla="val 4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10919" y="3066897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나 5분 늦을 듯...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92047" y="3478377"/>
            <a:ext cx="1828800" cy="868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383487" y="3569817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83487" y="3642969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B7CFA"/>
                </a:solidFill>
                <a:latin typeface="맑은 고딕"/>
              </a:rPr>
              <a:t>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7847" y="3597249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0F172A"/>
                </a:solidFill>
                <a:latin typeface="맑은 고딕"/>
              </a:rPr>
              <a:t>OO식당 강남점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77847" y="3770985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  <a:latin typeface="맑은 고딕"/>
              </a:rPr>
              <a:t>Google Maps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3487" y="4136745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5B7CFA"/>
                </a:solidFill>
                <a:latin typeface="맑은 고딕"/>
              </a:rPr>
              <a:t>탭하여 길찾기 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90015" y="4438497"/>
            <a:ext cx="1600200" cy="384048"/>
          </a:xfrm>
          <a:prstGeom prst="roundRect">
            <a:avLst>
              <a:gd name="adj" fmla="val 40000"/>
            </a:avLst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81455" y="4529937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나도 5분! 식당 안에서 보자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7687" y="5549951"/>
            <a:ext cx="2621128" cy="45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80567" y="5668823"/>
            <a:ext cx="365760" cy="365760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0567" y="5714543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94A3B8"/>
                </a:solidFill>
                <a:latin typeface="맑은 고딕"/>
              </a:rPr>
              <a:t>+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337767" y="5677967"/>
            <a:ext cx="1249528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74927" y="5751119"/>
            <a:ext cx="10666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메시지</a:t>
            </a:r>
          </a:p>
        </p:txBody>
      </p:sp>
      <p:sp>
        <p:nvSpPr>
          <p:cNvPr id="45" name="Oval 44"/>
          <p:cNvSpPr/>
          <p:nvPr/>
        </p:nvSpPr>
        <p:spPr>
          <a:xfrm>
            <a:off x="2724455" y="5668823"/>
            <a:ext cx="365760" cy="365760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24455" y="5696255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↑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06240" y="1051560"/>
            <a:ext cx="7498079" cy="16916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06240" y="1051560"/>
            <a:ext cx="73152" cy="1691640"/>
          </a:xfrm>
          <a:prstGeom prst="rect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34840" y="1161288"/>
            <a:ext cx="71323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Layout</a:t>
            </a:r>
          </a:p>
        </p:txBody>
      </p:sp>
      <p:sp>
        <p:nvSpPr>
          <p:cNvPr id="50" name="Oval 49"/>
          <p:cNvSpPr/>
          <p:nvPr/>
        </p:nvSpPr>
        <p:spPr>
          <a:xfrm>
            <a:off x="4480560" y="1527048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45152" y="1463040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nav 타이틀에 채팅명 + 인원수</a:t>
            </a:r>
          </a:p>
        </p:txBody>
      </p:sp>
      <p:sp>
        <p:nvSpPr>
          <p:cNvPr id="52" name="Oval 51"/>
          <p:cNvSpPr/>
          <p:nvPr/>
        </p:nvSpPr>
        <p:spPr>
          <a:xfrm>
            <a:off x="4480560" y="1819656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45152" y="1755648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위치공유 시작 안내 배너 (PILL_BG)</a:t>
            </a:r>
          </a:p>
        </p:txBody>
      </p:sp>
      <p:sp>
        <p:nvSpPr>
          <p:cNvPr id="54" name="Oval 53"/>
          <p:cNvSpPr/>
          <p:nvPr/>
        </p:nvSpPr>
        <p:spPr>
          <a:xfrm>
            <a:off x="4480560" y="2112264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45152" y="2048256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메시지 버블 + 장소 카드 + 인풋 바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06240" y="2834640"/>
            <a:ext cx="7498079" cy="16916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0" y="2834640"/>
            <a:ext cx="73152" cy="16916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34840" y="2944368"/>
            <a:ext cx="71323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Interaction</a:t>
            </a:r>
          </a:p>
        </p:txBody>
      </p:sp>
      <p:sp>
        <p:nvSpPr>
          <p:cNvPr id="59" name="Oval 58"/>
          <p:cNvSpPr/>
          <p:nvPr/>
        </p:nvSpPr>
        <p:spPr>
          <a:xfrm>
            <a:off x="4480560" y="3310128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45152" y="3246120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인풋 좌측 + → 카메라/이미지/장소 sheet</a:t>
            </a:r>
          </a:p>
        </p:txBody>
      </p:sp>
      <p:sp>
        <p:nvSpPr>
          <p:cNvPr id="61" name="Oval 60"/>
          <p:cNvSpPr/>
          <p:nvPr/>
        </p:nvSpPr>
        <p:spPr>
          <a:xfrm>
            <a:off x="4480560" y="3602736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45152" y="3538728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장소 선택 → PlacePickerScreen 후 장소 카드 전송</a:t>
            </a:r>
          </a:p>
        </p:txBody>
      </p:sp>
      <p:sp>
        <p:nvSpPr>
          <p:cNvPr id="63" name="Oval 62"/>
          <p:cNvSpPr/>
          <p:nvPr/>
        </p:nvSpPr>
        <p:spPr>
          <a:xfrm>
            <a:off x="4480560" y="3895344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645152" y="3831336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메시지 길게 누름 → 편집/삭제/답장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206240" y="4617720"/>
            <a:ext cx="7498079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206240" y="4617720"/>
            <a:ext cx="73152" cy="1828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434840" y="4727448"/>
            <a:ext cx="71323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Design Note</a:t>
            </a:r>
          </a:p>
        </p:txBody>
      </p:sp>
      <p:sp>
        <p:nvSpPr>
          <p:cNvPr id="68" name="Oval 67"/>
          <p:cNvSpPr/>
          <p:nvPr/>
        </p:nvSpPr>
        <p:spPr>
          <a:xfrm>
            <a:off x="4480560" y="5093208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645152" y="5029200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내 메시지 우측 BRAND, 상대 메시지 좌측 그레이</a:t>
            </a:r>
          </a:p>
        </p:txBody>
      </p:sp>
      <p:sp>
        <p:nvSpPr>
          <p:cNvPr id="70" name="Oval 69"/>
          <p:cNvSpPr/>
          <p:nvPr/>
        </p:nvSpPr>
        <p:spPr>
          <a:xfrm>
            <a:off x="4480560" y="5385816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45152" y="5321808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장소 카드는 탭 시 외부 지도 앱으로 길찾기</a:t>
            </a:r>
          </a:p>
        </p:txBody>
      </p:sp>
      <p:sp>
        <p:nvSpPr>
          <p:cNvPr id="72" name="Oval 71"/>
          <p:cNvSpPr/>
          <p:nvPr/>
        </p:nvSpPr>
        <p:spPr>
          <a:xfrm>
            <a:off x="4480560" y="5678424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645152" y="5614416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키보드 활성 시 인풋 바가 같이 올라옴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MeetPod — 화면 설계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5B7CFA"/>
                </a:solidFill>
                <a:latin typeface="맑은 고딕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188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장소 선택  ·  PlacePickerScreen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맑은 고딕"/>
              </a:rPr>
              <a:t>Route: /place-picker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51560"/>
            <a:ext cx="2736342" cy="5616702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7687" y="1109167"/>
            <a:ext cx="2621128" cy="5501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00200" y="1205179"/>
            <a:ext cx="816102" cy="19202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0508" y="1233982"/>
            <a:ext cx="576072" cy="1728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0F172A"/>
                </a:solidFill>
                <a:latin typeface="맑은 고딕"/>
              </a:rPr>
              <a:t>9:41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96362" y="1272386"/>
            <a:ext cx="76809" cy="6720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92374" y="1272386"/>
            <a:ext cx="76809" cy="6720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8386" y="1272386"/>
            <a:ext cx="172821" cy="7680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80185" y="6495441"/>
            <a:ext cx="1056132" cy="48006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7687" y="1512417"/>
            <a:ext cx="2621128" cy="4906214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7687" y="1512417"/>
            <a:ext cx="2621128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7687" y="1923897"/>
            <a:ext cx="2621128" cy="45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" y="1603857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5B7CFA"/>
                </a:solidFill>
                <a:latin typeface="맑은 고딕"/>
              </a:rPr>
              <a:t>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" y="1631289"/>
            <a:ext cx="2621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맑은 고딕"/>
              </a:rPr>
              <a:t>장소 선택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0175" y="1640433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5B7CFA"/>
                </a:solidFill>
                <a:latin typeface="맑은 고딕"/>
              </a:rPr>
              <a:t>완료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6287" y="2015337"/>
            <a:ext cx="2163928" cy="4114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3447" y="2134209"/>
            <a:ext cx="1889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🔍  카페, 식당, 주소 검색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63447" y="2719425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3447" y="2774289"/>
            <a:ext cx="411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B7CFA"/>
                </a:solidFill>
                <a:latin typeface="맑은 고딕"/>
              </a:rPr>
              <a:t>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12087" y="2701137"/>
            <a:ext cx="14324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맑은 고딕"/>
              </a:rPr>
              <a:t>OO식당 강남점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12087" y="2938881"/>
            <a:ext cx="143240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맑은 고딕"/>
              </a:rPr>
              <a:t>서울 강남구 테헤란로 123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12087" y="3112617"/>
            <a:ext cx="143240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B7CFA"/>
                </a:solidFill>
                <a:latin typeface="맑은 고딕"/>
              </a:rPr>
              <a:t>★ 4.5 · 한식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612087" y="3322929"/>
            <a:ext cx="1706728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63447" y="3432657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3447" y="3487521"/>
            <a:ext cx="411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59E0B"/>
                </a:solidFill>
                <a:latin typeface="맑은 고딕"/>
              </a:rPr>
              <a:t>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12087" y="3414369"/>
            <a:ext cx="14324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맑은 고딕"/>
              </a:rPr>
              <a:t>OO베이커리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12087" y="3652113"/>
            <a:ext cx="143240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맑은 고딕"/>
              </a:rPr>
              <a:t>서울 강남구 강남대로 456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12087" y="3825849"/>
            <a:ext cx="143240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F59E0B"/>
                </a:solidFill>
                <a:latin typeface="맑은 고딕"/>
              </a:rPr>
              <a:t>★ 4.7 · 카페·디저트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612087" y="4036161"/>
            <a:ext cx="1706728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63447" y="4145889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3447" y="4200753"/>
            <a:ext cx="411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8B5CF6"/>
                </a:solidFill>
                <a:latin typeface="맑은 고딕"/>
              </a:rPr>
              <a:t>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12087" y="4127601"/>
            <a:ext cx="14324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맑은 고딕"/>
              </a:rPr>
              <a:t>OO이자카야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12087" y="4365345"/>
            <a:ext cx="143240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맑은 고딕"/>
              </a:rPr>
              <a:t>서울 강남구 역삼동 789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12087" y="4539081"/>
            <a:ext cx="143240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8B5CF6"/>
                </a:solidFill>
                <a:latin typeface="맑은 고딕"/>
              </a:rPr>
              <a:t>★ 4.2 · 일식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612087" y="4749393"/>
            <a:ext cx="1706728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063447" y="4859121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3447" y="4913985"/>
            <a:ext cx="411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EF4444"/>
                </a:solidFill>
                <a:latin typeface="맑은 고딕"/>
              </a:rPr>
              <a:t>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12087" y="4840833"/>
            <a:ext cx="14324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맑은 고딕"/>
              </a:rPr>
              <a:t>OO치킨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12087" y="5078577"/>
            <a:ext cx="143240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맑은 고딕"/>
              </a:rPr>
              <a:t>서울 강남구 논현동 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12087" y="5252313"/>
            <a:ext cx="143240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EF4444"/>
                </a:solidFill>
                <a:latin typeface="맑은 고딕"/>
              </a:rPr>
              <a:t>★ 4.4 · 치킨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612087" y="5462625"/>
            <a:ext cx="1706728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4206240" y="1051560"/>
            <a:ext cx="7498079" cy="16916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206240" y="1051560"/>
            <a:ext cx="73152" cy="1691640"/>
          </a:xfrm>
          <a:prstGeom prst="rect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34840" y="1161288"/>
            <a:ext cx="71323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Layout</a:t>
            </a:r>
          </a:p>
        </p:txBody>
      </p:sp>
      <p:sp>
        <p:nvSpPr>
          <p:cNvPr id="51" name="Oval 50"/>
          <p:cNvSpPr/>
          <p:nvPr/>
        </p:nvSpPr>
        <p:spPr>
          <a:xfrm>
            <a:off x="4480560" y="1527048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45152" y="1463040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검색 바 + 결과 리스트 (Google Places)</a:t>
            </a:r>
          </a:p>
        </p:txBody>
      </p:sp>
      <p:sp>
        <p:nvSpPr>
          <p:cNvPr id="53" name="Oval 52"/>
          <p:cNvSpPr/>
          <p:nvPr/>
        </p:nvSpPr>
        <p:spPr>
          <a:xfrm>
            <a:off x="4480560" y="1819656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45152" y="1755648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각 행: 아이콘 + 이름 + 주소 + 별점/카테고리</a:t>
            </a:r>
          </a:p>
        </p:txBody>
      </p:sp>
      <p:sp>
        <p:nvSpPr>
          <p:cNvPr id="55" name="Oval 54"/>
          <p:cNvSpPr/>
          <p:nvPr/>
        </p:nvSpPr>
        <p:spPr>
          <a:xfrm>
            <a:off x="4480560" y="2112264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45152" y="2048256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헤더 우측 '완료' (선택 후 활성)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206240" y="2834640"/>
            <a:ext cx="7498079" cy="16916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206240" y="2834640"/>
            <a:ext cx="73152" cy="16916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34840" y="2944368"/>
            <a:ext cx="71323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Interaction</a:t>
            </a:r>
          </a:p>
        </p:txBody>
      </p:sp>
      <p:sp>
        <p:nvSpPr>
          <p:cNvPr id="60" name="Oval 59"/>
          <p:cNvSpPr/>
          <p:nvPr/>
        </p:nvSpPr>
        <p:spPr>
          <a:xfrm>
            <a:off x="4480560" y="3310128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45152" y="3246120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행 탭 → 선택 표시 → 완료로 반환</a:t>
            </a:r>
          </a:p>
        </p:txBody>
      </p:sp>
      <p:sp>
        <p:nvSpPr>
          <p:cNvPr id="62" name="Oval 61"/>
          <p:cNvSpPr/>
          <p:nvPr/>
        </p:nvSpPr>
        <p:spPr>
          <a:xfrm>
            <a:off x="4480560" y="3602736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645152" y="3538728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현재 위치 기준 정렬 (옵션)</a:t>
            </a:r>
          </a:p>
        </p:txBody>
      </p:sp>
      <p:sp>
        <p:nvSpPr>
          <p:cNvPr id="64" name="Oval 63"/>
          <p:cNvSpPr/>
          <p:nvPr/>
        </p:nvSpPr>
        <p:spPr>
          <a:xfrm>
            <a:off x="4480560" y="3895344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645152" y="3831336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최근 선택 장소 상단 노출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206240" y="4617720"/>
            <a:ext cx="7498079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0" y="4617720"/>
            <a:ext cx="73152" cy="1828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34840" y="4727448"/>
            <a:ext cx="71323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Design Note</a:t>
            </a:r>
          </a:p>
        </p:txBody>
      </p:sp>
      <p:sp>
        <p:nvSpPr>
          <p:cNvPr id="69" name="Oval 68"/>
          <p:cNvSpPr/>
          <p:nvPr/>
        </p:nvSpPr>
        <p:spPr>
          <a:xfrm>
            <a:off x="4480560" y="5093208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45152" y="5029200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행 좌측 핀 색은 카테고리별 (한식/카페/일식 등)</a:t>
            </a:r>
          </a:p>
        </p:txBody>
      </p:sp>
      <p:sp>
        <p:nvSpPr>
          <p:cNvPr id="71" name="Oval 70"/>
          <p:cNvSpPr/>
          <p:nvPr/>
        </p:nvSpPr>
        <p:spPr>
          <a:xfrm>
            <a:off x="4480560" y="5385816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645152" y="5321808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검색 0건이면 'OO 검색 결과 없음' 빈 상태</a:t>
            </a:r>
          </a:p>
        </p:txBody>
      </p:sp>
      <p:sp>
        <p:nvSpPr>
          <p:cNvPr id="73" name="Oval 72"/>
          <p:cNvSpPr/>
          <p:nvPr/>
        </p:nvSpPr>
        <p:spPr>
          <a:xfrm>
            <a:off x="4480560" y="5678424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645152" y="5614416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API 비용 위해 디바운스 350ms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MeetPod — 화면 설계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5B7CFA"/>
                </a:solidFill>
                <a:latin typeface="맑은 고딕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188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초대 수락  ·  InviteAcceptScreen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맑은 고딕"/>
              </a:rPr>
              <a:t>Route: /invite/:code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51560"/>
            <a:ext cx="2736342" cy="5616702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7687" y="1109167"/>
            <a:ext cx="2621128" cy="5501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00200" y="1205179"/>
            <a:ext cx="816102" cy="19202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0508" y="1233982"/>
            <a:ext cx="576072" cy="1728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0F172A"/>
                </a:solidFill>
                <a:latin typeface="맑은 고딕"/>
              </a:rPr>
              <a:t>9:41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96362" y="1272386"/>
            <a:ext cx="76809" cy="6720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92374" y="1272386"/>
            <a:ext cx="76809" cy="6720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8386" y="1272386"/>
            <a:ext cx="172821" cy="7680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80185" y="6495441"/>
            <a:ext cx="1056132" cy="48006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7687" y="1512417"/>
            <a:ext cx="2621128" cy="4906214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0567" y="1649577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맑은 고딕"/>
              </a:rPr>
              <a:t>✕</a:t>
            </a:r>
          </a:p>
        </p:txBody>
      </p:sp>
      <p:sp>
        <p:nvSpPr>
          <p:cNvPr id="18" name="Oval 17"/>
          <p:cNvSpPr/>
          <p:nvPr/>
        </p:nvSpPr>
        <p:spPr>
          <a:xfrm>
            <a:off x="1596771" y="2335377"/>
            <a:ext cx="822960" cy="822960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96771" y="2472537"/>
            <a:ext cx="822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맑은 고딕"/>
              </a:rPr>
              <a:t>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" y="3432657"/>
            <a:ext cx="26211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맑은 고딕"/>
              </a:rPr>
              <a:t>민호님이 초대했어요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687" y="3798417"/>
            <a:ext cx="2621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맑은 고딕"/>
              </a:rPr>
              <a:t>@minho_kim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54887" y="4255617"/>
            <a:ext cx="1706728" cy="86868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37767" y="4420209"/>
            <a:ext cx="548640" cy="548640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37767" y="4518964"/>
            <a:ext cx="548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77847" y="4438497"/>
            <a:ext cx="792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대학동기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77847" y="4712817"/>
            <a:ext cx="792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12명의 친구들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6287" y="5001311"/>
            <a:ext cx="2163928" cy="457200"/>
          </a:xfrm>
          <a:prstGeom prst="roundRect">
            <a:avLst>
              <a:gd name="adj" fmla="val 50000"/>
            </a:avLst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6287" y="5120183"/>
            <a:ext cx="21639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수락하고 그룹 참여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6287" y="5549951"/>
            <a:ext cx="2163928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6287" y="5668823"/>
            <a:ext cx="21639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94A3B8"/>
                </a:solidFill>
                <a:latin typeface="맑은 고딕"/>
              </a:rPr>
              <a:t>거절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06240" y="1051560"/>
            <a:ext cx="7498079" cy="16916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06240" y="1051560"/>
            <a:ext cx="73152" cy="1691640"/>
          </a:xfrm>
          <a:prstGeom prst="rect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1161288"/>
            <a:ext cx="71323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Layout</a:t>
            </a:r>
          </a:p>
        </p:txBody>
      </p:sp>
      <p:sp>
        <p:nvSpPr>
          <p:cNvPr id="34" name="Oval 33"/>
          <p:cNvSpPr/>
          <p:nvPr/>
        </p:nvSpPr>
        <p:spPr>
          <a:xfrm>
            <a:off x="4480560" y="1527048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45152" y="1463040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딥링크 진입 시 풀스크린 모달</a:t>
            </a:r>
          </a:p>
        </p:txBody>
      </p:sp>
      <p:sp>
        <p:nvSpPr>
          <p:cNvPr id="36" name="Oval 35"/>
          <p:cNvSpPr/>
          <p:nvPr/>
        </p:nvSpPr>
        <p:spPr>
          <a:xfrm>
            <a:off x="4480560" y="1819656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45152" y="1755648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초대자 정보 + 그룹/친구 카드 + CTA 2개</a:t>
            </a:r>
          </a:p>
        </p:txBody>
      </p:sp>
      <p:sp>
        <p:nvSpPr>
          <p:cNvPr id="38" name="Oval 37"/>
          <p:cNvSpPr/>
          <p:nvPr/>
        </p:nvSpPr>
        <p:spPr>
          <a:xfrm>
            <a:off x="4480560" y="2112264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45152" y="2048256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상단 좌측 ✕ 닫기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06240" y="2834640"/>
            <a:ext cx="7498079" cy="16916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06240" y="2834640"/>
            <a:ext cx="73152" cy="16916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34840" y="2944368"/>
            <a:ext cx="71323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Interaction</a:t>
            </a:r>
          </a:p>
        </p:txBody>
      </p:sp>
      <p:sp>
        <p:nvSpPr>
          <p:cNvPr id="43" name="Oval 42"/>
          <p:cNvSpPr/>
          <p:nvPr/>
        </p:nvSpPr>
        <p:spPr>
          <a:xfrm>
            <a:off x="4480560" y="3310128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45152" y="3246120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수락 → 그룹 참여 또는 친구 추가, 해당 화면으로 이동</a:t>
            </a:r>
          </a:p>
        </p:txBody>
      </p:sp>
      <p:sp>
        <p:nvSpPr>
          <p:cNvPr id="45" name="Oval 44"/>
          <p:cNvSpPr/>
          <p:nvPr/>
        </p:nvSpPr>
        <p:spPr>
          <a:xfrm>
            <a:off x="4480560" y="3602736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45152" y="3538728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거절 → 닫기 + 초대 코드 used_count 변경 X</a:t>
            </a:r>
          </a:p>
        </p:txBody>
      </p:sp>
      <p:sp>
        <p:nvSpPr>
          <p:cNvPr id="47" name="Oval 46"/>
          <p:cNvSpPr/>
          <p:nvPr/>
        </p:nvSpPr>
        <p:spPr>
          <a:xfrm>
            <a:off x="4480560" y="3895344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45152" y="3831336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만료/소진 시 'invite expired' 상태 화면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06240" y="4617720"/>
            <a:ext cx="7498079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206240" y="4617720"/>
            <a:ext cx="73152" cy="1828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34840" y="4727448"/>
            <a:ext cx="71323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Design Note</a:t>
            </a:r>
          </a:p>
        </p:txBody>
      </p:sp>
      <p:sp>
        <p:nvSpPr>
          <p:cNvPr id="52" name="Oval 51"/>
          <p:cNvSpPr/>
          <p:nvPr/>
        </p:nvSpPr>
        <p:spPr>
          <a:xfrm>
            <a:off x="4480560" y="5093208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45152" y="5029200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로그인 안 된 상태면 LoginScreen 거쳐 다시 진입</a:t>
            </a:r>
          </a:p>
        </p:txBody>
      </p:sp>
      <p:sp>
        <p:nvSpPr>
          <p:cNvPr id="54" name="Oval 53"/>
          <p:cNvSpPr/>
          <p:nvPr/>
        </p:nvSpPr>
        <p:spPr>
          <a:xfrm>
            <a:off x="4480560" y="5385816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45152" y="5321808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이미 멤버면 '이미 참여 중' 상태로 안내</a:t>
            </a:r>
          </a:p>
        </p:txBody>
      </p:sp>
      <p:sp>
        <p:nvSpPr>
          <p:cNvPr id="56" name="Oval 55"/>
          <p:cNvSpPr/>
          <p:nvPr/>
        </p:nvSpPr>
        <p:spPr>
          <a:xfrm>
            <a:off x="4480560" y="5678424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45152" y="5614416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버튼 sticky bottom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MeetPod — 화면 설계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5B7CFA"/>
                </a:solidFill>
                <a:latin typeface="맑은 고딕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188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Profile / Me  ·  ProfileScreen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맑은 고딕"/>
              </a:rPr>
              <a:t>Route: /me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51560"/>
            <a:ext cx="2736342" cy="5616702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7687" y="1109167"/>
            <a:ext cx="2621128" cy="5501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00200" y="1205179"/>
            <a:ext cx="816102" cy="19202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0508" y="1233982"/>
            <a:ext cx="576072" cy="1728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0F172A"/>
                </a:solidFill>
                <a:latin typeface="맑은 고딕"/>
              </a:rPr>
              <a:t>9:41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96362" y="1272386"/>
            <a:ext cx="76809" cy="6720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92374" y="1272386"/>
            <a:ext cx="76809" cy="6720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8386" y="1272386"/>
            <a:ext cx="172821" cy="7680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80185" y="6495441"/>
            <a:ext cx="1056132" cy="48006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7687" y="1512417"/>
            <a:ext cx="2621128" cy="4906214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7687" y="1512417"/>
            <a:ext cx="2621128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2007" y="1695297"/>
            <a:ext cx="26211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맑은 고딕"/>
              </a:rPr>
              <a:t>내 정보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6287" y="2426817"/>
            <a:ext cx="2163928" cy="14630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96771" y="2609697"/>
            <a:ext cx="822960" cy="822960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96771" y="2757829"/>
            <a:ext cx="822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</a:rPr>
              <a:t>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687" y="3478377"/>
            <a:ext cx="2621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맑은 고딕"/>
              </a:rPr>
              <a:t>지수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687" y="3706977"/>
            <a:ext cx="2621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맑은 고딕"/>
              </a:rPr>
              <a:t>@jisoo_28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6287" y="4118457"/>
            <a:ext cx="2163928" cy="3840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3447" y="4209897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7CFA"/>
                </a:solidFill>
                <a:latin typeface="맑은 고딕"/>
              </a:rPr>
              <a:t>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29207" y="4209897"/>
            <a:ext cx="335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맑은 고딕"/>
              </a:rPr>
              <a:t>기본 알림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64335" y="4209897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30분 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53055" y="4209897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맑은 고딕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6287" y="4575657"/>
            <a:ext cx="2163928" cy="3840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3447" y="4667097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7CFA"/>
                </a:solidFill>
                <a:latin typeface="맑은 고딕"/>
              </a:rPr>
              <a:t>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29207" y="4667097"/>
            <a:ext cx="335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맑은 고딕"/>
              </a:rPr>
              <a:t>언어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64335" y="4667097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한국어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53055" y="4667097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맑은 고딕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6287" y="5032857"/>
            <a:ext cx="2163928" cy="3840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3447" y="5124297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7CFA"/>
                </a:solidFill>
                <a:latin typeface="맑은 고딕"/>
              </a:rPr>
              <a:t>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29207" y="5124297"/>
            <a:ext cx="335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맑은 고딕"/>
              </a:rPr>
              <a:t>프라이버시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64335" y="5124297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53055" y="5124297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맑은 고딕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6287" y="5490057"/>
            <a:ext cx="2163928" cy="3840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3447" y="5581497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7CFA"/>
                </a:solidFill>
                <a:latin typeface="맑은 고딕"/>
              </a:rPr>
              <a:t>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29207" y="5581497"/>
            <a:ext cx="335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맑은 고딕"/>
              </a:rPr>
              <a:t>친구 초대 보내기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64335" y="5581497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53055" y="5581497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맑은 고딕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6287" y="5947257"/>
            <a:ext cx="2163928" cy="3840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63447" y="6038697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7CFA"/>
                </a:solidFill>
                <a:latin typeface="맑은 고딕"/>
              </a:rPr>
              <a:t>🚪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29207" y="6038697"/>
            <a:ext cx="335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맑은 고딕"/>
              </a:rPr>
              <a:t>로그아웃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64335" y="6038697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53055" y="6038697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맑은 고딕"/>
              </a:rPr>
              <a:t>›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7687" y="6052871"/>
            <a:ext cx="2621128" cy="45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97687" y="6057443"/>
            <a:ext cx="2621128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7687" y="6098591"/>
            <a:ext cx="65528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맑은 고딕"/>
              </a:rPr>
              <a:t>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7687" y="6272327"/>
            <a:ext cx="655282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맑은 고딕"/>
              </a:rPr>
              <a:t>약속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52969" y="6098591"/>
            <a:ext cx="65528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맑은 고딕"/>
              </a:rPr>
              <a:t>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52969" y="6272327"/>
            <a:ext cx="655282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맑은 고딕"/>
              </a:rPr>
              <a:t>그룹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08251" y="6098591"/>
            <a:ext cx="65528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맑은 고딕"/>
              </a:rPr>
              <a:t>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08251" y="6272327"/>
            <a:ext cx="655282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맑은 고딕"/>
              </a:rPr>
              <a:t>채팅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63533" y="6098591"/>
            <a:ext cx="65528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B7CFA"/>
                </a:solidFill>
                <a:latin typeface="맑은 고딕"/>
              </a:rPr>
              <a:t>👤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63533" y="6272327"/>
            <a:ext cx="655282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5B7CFA"/>
                </a:solidFill>
                <a:latin typeface="맑은 고딕"/>
              </a:rPr>
              <a:t>Me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206240" y="1051560"/>
            <a:ext cx="7498079" cy="16916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206240" y="1051560"/>
            <a:ext cx="73152" cy="1691640"/>
          </a:xfrm>
          <a:prstGeom prst="rect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34840" y="1161288"/>
            <a:ext cx="71323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Layout</a:t>
            </a:r>
          </a:p>
        </p:txBody>
      </p:sp>
      <p:sp>
        <p:nvSpPr>
          <p:cNvPr id="62" name="Oval 61"/>
          <p:cNvSpPr/>
          <p:nvPr/>
        </p:nvSpPr>
        <p:spPr>
          <a:xfrm>
            <a:off x="4480560" y="1527048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645152" y="1463040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상단 프로필 카드 (아바타·이름·핸들)</a:t>
            </a:r>
          </a:p>
        </p:txBody>
      </p:sp>
      <p:sp>
        <p:nvSpPr>
          <p:cNvPr id="64" name="Oval 63"/>
          <p:cNvSpPr/>
          <p:nvPr/>
        </p:nvSpPr>
        <p:spPr>
          <a:xfrm>
            <a:off x="4480560" y="1819656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645152" y="1755648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메뉴 행: 알림/언어/프라이버시/초대/로그아웃</a:t>
            </a:r>
          </a:p>
        </p:txBody>
      </p:sp>
      <p:sp>
        <p:nvSpPr>
          <p:cNvPr id="66" name="Oval 65"/>
          <p:cNvSpPr/>
          <p:nvPr/>
        </p:nvSpPr>
        <p:spPr>
          <a:xfrm>
            <a:off x="4480560" y="2112264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645152" y="2048256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각 행 좌측 아이콘 + 우측 값 + chevron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206240" y="2834640"/>
            <a:ext cx="7498079" cy="16916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206240" y="2834640"/>
            <a:ext cx="73152" cy="16916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434840" y="2944368"/>
            <a:ext cx="71323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Interaction</a:t>
            </a:r>
          </a:p>
        </p:txBody>
      </p:sp>
      <p:sp>
        <p:nvSpPr>
          <p:cNvPr id="71" name="Oval 70"/>
          <p:cNvSpPr/>
          <p:nvPr/>
        </p:nvSpPr>
        <p:spPr>
          <a:xfrm>
            <a:off x="4480560" y="3310128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645152" y="3246120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행 탭 → 해당 설정 화면</a:t>
            </a:r>
          </a:p>
        </p:txBody>
      </p:sp>
      <p:sp>
        <p:nvSpPr>
          <p:cNvPr id="73" name="Oval 72"/>
          <p:cNvSpPr/>
          <p:nvPr/>
        </p:nvSpPr>
        <p:spPr>
          <a:xfrm>
            <a:off x="4480560" y="3602736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645152" y="3538728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초대 보내기 → 본인 친구 초대 링크 시트</a:t>
            </a:r>
          </a:p>
        </p:txBody>
      </p:sp>
      <p:sp>
        <p:nvSpPr>
          <p:cNvPr id="75" name="Oval 74"/>
          <p:cNvSpPr/>
          <p:nvPr/>
        </p:nvSpPr>
        <p:spPr>
          <a:xfrm>
            <a:off x="4480560" y="3895344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645152" y="3831336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로그아웃 확인 다이얼로그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206240" y="4617720"/>
            <a:ext cx="7498079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206240" y="4617720"/>
            <a:ext cx="73152" cy="1828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434840" y="4727448"/>
            <a:ext cx="71323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Design Note</a:t>
            </a:r>
          </a:p>
        </p:txBody>
      </p:sp>
      <p:sp>
        <p:nvSpPr>
          <p:cNvPr id="80" name="Oval 79"/>
          <p:cNvSpPr/>
          <p:nvPr/>
        </p:nvSpPr>
        <p:spPr>
          <a:xfrm>
            <a:off x="4480560" y="5093208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645152" y="5029200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아이콘은 SF Symbols / Material 호환</a:t>
            </a:r>
          </a:p>
        </p:txBody>
      </p:sp>
      <p:sp>
        <p:nvSpPr>
          <p:cNvPr id="82" name="Oval 81"/>
          <p:cNvSpPr/>
          <p:nvPr/>
        </p:nvSpPr>
        <p:spPr>
          <a:xfrm>
            <a:off x="4480560" y="5385816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645152" y="5321808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프라이버시는 위치공유 기본값 + 차단 목록 포함</a:t>
            </a:r>
          </a:p>
        </p:txBody>
      </p:sp>
      <p:sp>
        <p:nvSpPr>
          <p:cNvPr id="84" name="Oval 83"/>
          <p:cNvSpPr/>
          <p:nvPr/>
        </p:nvSpPr>
        <p:spPr>
          <a:xfrm>
            <a:off x="4480560" y="5678424"/>
            <a:ext cx="73152" cy="73152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645152" y="5614416"/>
            <a:ext cx="6857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Phase 2: 다크모드 토글, 알림 채널 세분화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MeetPod — 화면 설계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16 /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5B7CFA"/>
                </a:solidFill>
                <a:latin typeface="맑은 고딕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188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디자인 원칙 요약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맑은 고딕"/>
              </a:rPr>
              <a:t>이 화면들 전체에 적용되는 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11247120" cy="8686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097280"/>
            <a:ext cx="91440" cy="868680"/>
          </a:xfrm>
          <a:prstGeom prst="roundRect">
            <a:avLst>
              <a:gd name="adj" fmla="val 30000"/>
            </a:avLst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258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5B7CFA"/>
                </a:solidFill>
                <a:latin typeface="맑은 고딕"/>
              </a:rPr>
              <a:t>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26187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맑은 고딕"/>
              </a:rPr>
              <a:t>친근하고 가볍게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600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맑은 고딕"/>
              </a:rPr>
              <a:t>친구 사이 앱. 무거운 카드/그림자 지양, 1px HAIR 테두리 + 부드러운 라운딩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057400"/>
            <a:ext cx="11247120" cy="8686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2057400"/>
            <a:ext cx="91440" cy="86868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2860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10B981"/>
                </a:solidFill>
                <a:latin typeface="맑은 고딕"/>
              </a:rPr>
              <a:t>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22199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맑은 고딕"/>
              </a:rPr>
              <a:t>위치 공유의 신뢰감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56032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맑은 고딕"/>
              </a:rPr>
              <a:t>상태(자동 시작/수동 OFF)는 항상 명시적으로 노출. 깜빡 잊을 수 없게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017520"/>
            <a:ext cx="11247120" cy="8686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3017520"/>
            <a:ext cx="91440" cy="86868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2461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F59E0B"/>
                </a:solidFill>
                <a:latin typeface="맑은 고딕"/>
              </a:rPr>
              <a:t>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18211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맑은 고딕"/>
              </a:rPr>
              <a:t>약속 중심 정보 위계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52044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맑은 고딕"/>
              </a:rPr>
              <a:t>시간·장소·참여자는 항상 같은 위계로. 부가 정보는 pill로 압축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977640"/>
            <a:ext cx="11247120" cy="8686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7200" y="3977640"/>
            <a:ext cx="91440" cy="868680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20624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8B5CF6"/>
                </a:solidFill>
                <a:latin typeface="맑은 고딕"/>
              </a:rPr>
              <a:t>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14223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맑은 고딕"/>
              </a:rPr>
              <a:t>프라이버시는 화면에 보이게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48056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맑은 고딕"/>
              </a:rPr>
              <a:t>위치공유 ON/OFF, 알림 설정은 한 번에 보이는 곳에. 숨기지 않기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937760"/>
            <a:ext cx="11247120" cy="8686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7200" y="4937760"/>
            <a:ext cx="91440" cy="868680"/>
          </a:xfrm>
          <a:prstGeom prst="roundRect">
            <a:avLst>
              <a:gd name="adj" fmla="val 3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16636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맑은 고딕"/>
              </a:rPr>
              <a:t>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10235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맑은 고딕"/>
              </a:rPr>
              <a:t>iOS 네이티브 패턴 준수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44068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맑은 고딕"/>
              </a:rPr>
              <a:t>대형 타이틀, 세그먼트 컨트롤, sticky CTA, KeyboardAvoidingView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MeetPod — 화면 설계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