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91695" cy="18288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맑은 고딕"/>
              </a:rPr>
              <a:t>MeetPod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6900"/>
                </a:solidFill>
                <a:latin typeface="맑은 고딕"/>
              </a:rPr>
              <a:t>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맑은 고딕"/>
              </a:rPr>
              <a:t>아키텍처 · 시퀀스 · 모듈 · API · 운영 · 위험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맑은 고딕"/>
              </a:rPr>
              <a:t>2026.05.03  ·  CPKWorks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전체 컴포넌트 구성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301752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B7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3017520" cy="36576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527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Mobile (Expo RN)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UI / Screens
Navigation
Zustand stores
api · lib · 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188720"/>
            <a:ext cx="301752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188720"/>
            <a:ext cx="301752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2527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Backend (FastAPI)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6916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Vercel Serverless
routers / services
dependencies / utils
JWT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188720"/>
            <a:ext cx="310896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F6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1188720"/>
            <a:ext cx="3108960" cy="36576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12527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Supabase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40"/>
            <a:ext cx="28346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Auth (OAuth)
Postgres + RLS
Realtime · Storage
pg_cron + Edge Fn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74720" y="2011680"/>
            <a:ext cx="1097280" cy="1"/>
          </a:xfrm>
          <a:prstGeom prst="line">
            <a:avLst/>
          </a:prstGeom>
          <a:ln w="25400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74720" y="17830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맑은 고딕"/>
              </a:rPr>
              <a:t>HTTPS REST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89520" y="2011680"/>
            <a:ext cx="1097280" cy="1"/>
          </a:xfrm>
          <a:prstGeom prst="line">
            <a:avLst/>
          </a:prstGeom>
          <a:ln w="25400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89520" y="17830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맑은 고딕"/>
              </a:rPr>
              <a:t>supabase-py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11680" y="3474720"/>
            <a:ext cx="8046720" cy="1"/>
          </a:xfrm>
          <a:prstGeom prst="line">
            <a:avLst/>
          </a:prstGeom>
          <a:ln w="25400">
            <a:solidFill>
              <a:srgbClr val="FF69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0" y="35204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6900"/>
                </a:solidFill>
                <a:latin typeface="맑은 고딕"/>
              </a:rPr>
              <a:t>WebSocket (Realtime) · OAuth · Storage upload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75488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4754880"/>
            <a:ext cx="3017520" cy="365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8188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Expo Push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52578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Edge Function이 reminder/event 발송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589520" y="3383280"/>
            <a:ext cx="2468880" cy="1737360"/>
          </a:xfrm>
          <a:prstGeom prst="line">
            <a:avLst/>
          </a:prstGeom>
          <a:ln w="254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0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B5CF6"/>
                </a:solidFill>
                <a:latin typeface="맑은 고딕"/>
              </a:rPr>
              <a:t>Edge Fn → Push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Traffic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어떤 요청이 어디로 가는가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동작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188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경로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11887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이유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0020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00200"/>
            <a:ext cx="91440" cy="420624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190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회원가입/로그인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7190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Mobile ↔ Supabase 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7190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OAuth 직접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57400"/>
            <a:ext cx="11247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057400"/>
            <a:ext cx="914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1762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프로필 부트스트랩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1762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Mobile → 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1762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handle 충돌 검증·트랜잭션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1460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514600"/>
            <a:ext cx="914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334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그룹/약속 CRUD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6334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Mobile → 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6334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권한·트랜잭션·트리거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971800"/>
            <a:ext cx="11247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971800"/>
            <a:ext cx="914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0906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초대 코드 발급/소비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0906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Mobile → FastAPI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0906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충돌·만료·max_uses 원자성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42900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429000"/>
            <a:ext cx="9144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5478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채팅 송신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35478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Mobile → FastAPI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5478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권한·archived 체크·push fanout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86200"/>
            <a:ext cx="11247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886200"/>
            <a:ext cx="91440" cy="42062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0050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채팅 수신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0050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Mobile ← Supabase Realtime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0050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WS 직결, FastAPI 우회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34340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343400"/>
            <a:ext cx="91440" cy="42062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4622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위치 핑 송신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4622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Mobile → Supabase 직접 INSERT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4622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10초 주기, latency 민감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800600"/>
            <a:ext cx="11247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4800600"/>
            <a:ext cx="91440" cy="42062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9194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위치 핑 수신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49194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Mobile ← Supabase Realtime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49194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동일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257800"/>
            <a:ext cx="11247120" cy="42062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5257800"/>
            <a:ext cx="91440" cy="42062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3766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푸시 발송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0" y="53766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Edge Function → Expo Push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0" y="53766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DB 가까운 곳에서 fanout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715000"/>
            <a:ext cx="11247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5715000"/>
            <a:ext cx="91440" cy="420624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58338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이미지 업로드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0" y="58338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Mobile → Supabase Storage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58338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직접 (signed URL/RLS)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Auth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Supabase JWT 단일 진실 공급원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1188720"/>
            <a:ext cx="10332720" cy="6400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5B7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252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B7CFA"/>
                </a:solidFill>
                <a:latin typeface="맑은 고딕"/>
              </a:rPr>
              <a:t>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28016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맑은 고딕"/>
              </a:rPr>
              <a:t>Supabase JS SDK로 OAuth (Google/Apple/Kakao)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574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1965960"/>
            <a:ext cx="10332720" cy="6400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FF6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20299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6900"/>
                </a:solidFill>
                <a:latin typeface="맑은 고딕"/>
              </a:rPr>
              <a:t>Supabase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05740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맑은 고딕"/>
              </a:rPr>
              <a:t>JWT 발급: access_token + refresh_token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2743200"/>
            <a:ext cx="10332720" cy="6400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2807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맑은 고딕"/>
              </a:rPr>
              <a:t>Mobile → FastAPI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83464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맑은 고딕"/>
              </a:rPr>
              <a:t>Authorization: Bearer &lt;access_token&gt;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118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3520440"/>
            <a:ext cx="10332720" cy="6400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3584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맑은 고딕"/>
              </a:rPr>
              <a:t>FastAPI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61188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맑은 고딕"/>
              </a:rPr>
              <a:t>SUPABASE_JWT_SECRET로 서명 검증
sub 클레임 → user_id 추출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38912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0160" y="4297680"/>
            <a:ext cx="10332720" cy="6400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43616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FastAPI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3891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맑은 고딕"/>
              </a:rPr>
              <a:t>자체 JWT 발급 X (Supabase가 단일 SoT)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16636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395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맑은 고딕"/>
              </a:rPr>
              <a:t>⚠ Kakao 예외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45896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Supabase가 Kakao OIDC native 미지원 시: (1) Custom OIDC provider, (2) FastAPI가 Kakao 토큰 검증 후 Supabase Admin API로 user 발급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Sequence — 그룹 약속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Mobile → FastAPI → Postgres + 트리거 fanout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51560"/>
            <a:ext cx="2121408" cy="41148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1051560"/>
            <a:ext cx="2121408" cy="411480"/>
          </a:xfrm>
          <a:prstGeom prst="roundRect">
            <a:avLst>
              <a:gd name="adj" fmla="val 2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114300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Mobile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0056" y="1051560"/>
            <a:ext cx="2121408" cy="4114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74336" y="114300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2904" y="1051560"/>
            <a:ext cx="2121408" cy="411480"/>
          </a:xfrm>
          <a:prstGeom prst="roundRect">
            <a:avLst>
              <a:gd name="adj" fmla="val 20000"/>
            </a:avLst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87184" y="114300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Postgres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45752" y="1051560"/>
            <a:ext cx="2121408" cy="41148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0032" y="114300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Realtime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55064" y="1554480"/>
            <a:ext cx="1" cy="484632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67912" y="1554480"/>
            <a:ext cx="1" cy="484632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1554480"/>
            <a:ext cx="1" cy="484632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93608" y="1554480"/>
            <a:ext cx="1" cy="484632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06456" y="1554480"/>
            <a:ext cx="1" cy="484632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55064" y="1697018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89888" y="1540226"/>
            <a:ext cx="2743200" cy="142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+ 새 약속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52928" y="1863224"/>
            <a:ext cx="2029968" cy="23774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2928" y="1863224"/>
            <a:ext cx="20299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F172A"/>
                </a:solidFill>
                <a:latin typeface="맑은 고딕"/>
              </a:rPr>
              <a:t>MeetupCreate 화면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55064" y="2267174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389888" y="2110381"/>
            <a:ext cx="2743200" cy="142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그룹 선택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67912" y="2552251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02736" y="2395459"/>
            <a:ext cx="2743200" cy="142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GET /api/groups/{id}/members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0760" y="2837329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15584" y="2680536"/>
            <a:ext cx="2743200" cy="142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SELECT (RLS)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6080760" y="3122407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815584" y="2965614"/>
            <a:ext cx="2743200" cy="142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members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867912" y="3407484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02736" y="3250692"/>
            <a:ext cx="2743200" cy="142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200 + members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655064" y="3692562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89888" y="3535769"/>
            <a:ext cx="2743200" cy="142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장소·멤버·저장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867912" y="3977640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602736" y="3820847"/>
            <a:ext cx="2743200" cy="142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POST /api/meetups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80760" y="4262717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815584" y="4105924"/>
            <a:ext cx="2743200" cy="142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BEGIN; INSERT meetups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78624" y="4428923"/>
            <a:ext cx="2029968" cy="23774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78624" y="4428923"/>
            <a:ext cx="20299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F172A"/>
                </a:solidFill>
                <a:latin typeface="맑은 고딕"/>
              </a:rPr>
              <a:t>trigger: participants/chat_room/reminder INSERT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78624" y="4714000"/>
            <a:ext cx="2029968" cy="23774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78624" y="4714000"/>
            <a:ext cx="20299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F172A"/>
                </a:solidFill>
                <a:latin typeface="맑은 고딕"/>
              </a:rPr>
              <a:t>INSERT 추가 participants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6080760" y="5117950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815584" y="4961157"/>
            <a:ext cx="2743200" cy="142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COMMIT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3867912" y="5403028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602736" y="5246235"/>
            <a:ext cx="2743200" cy="142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201 + meetup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293608" y="5688105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2" y="5531313"/>
            <a:ext cx="2743200" cy="142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NOTIFY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1655064" y="5973183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389888" y="5816390"/>
            <a:ext cx="2743200" cy="1425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약속 상세 화면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Sequence — 위치 공유 (백그라운드)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starts_at - share_minutes_before 자동 시작 → ends_at 자동 종료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51560"/>
            <a:ext cx="2674620" cy="411480"/>
          </a:xfrm>
          <a:prstGeom prst="roundRect">
            <a:avLst>
              <a:gd name="adj" fmla="val 2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27660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Mobile (BG)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0420" y="1051560"/>
            <a:ext cx="2674620" cy="411480"/>
          </a:xfrm>
          <a:prstGeom prst="roundRect">
            <a:avLst>
              <a:gd name="adj" fmla="val 20000"/>
            </a:avLst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4700" y="1143000"/>
            <a:ext cx="27660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Supabase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51560"/>
            <a:ext cx="2674620" cy="41148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143000"/>
            <a:ext cx="27660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다른 멤버 Mobile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92540" y="1051560"/>
            <a:ext cx="2674620" cy="4114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46820" y="1143000"/>
            <a:ext cx="27660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pg_cron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31670" y="1554480"/>
            <a:ext cx="1" cy="438912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97730" y="1554480"/>
            <a:ext cx="1" cy="438912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63790" y="1554480"/>
            <a:ext cx="1" cy="438912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29850" y="1554480"/>
            <a:ext cx="1" cy="438912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1618488"/>
            <a:ext cx="2583180" cy="23774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618488"/>
            <a:ext cx="25831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F172A"/>
                </a:solidFill>
                <a:latin typeface="맑은 고딕"/>
              </a:rPr>
              <a:t>Local timer fires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1984248"/>
            <a:ext cx="2583180" cy="23774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84248"/>
            <a:ext cx="25831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F172A"/>
                </a:solidFill>
                <a:latin typeface="맑은 고딕"/>
              </a:rPr>
              <a:t>expo-location BG task 시작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31670" y="2468880"/>
            <a:ext cx="276606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943100" y="22677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INSERT location_pings (10s)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6140" y="2715768"/>
            <a:ext cx="2583180" cy="23774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6140" y="2715768"/>
            <a:ext cx="25831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F172A"/>
                </a:solidFill>
                <a:latin typeface="맑은 고딕"/>
              </a:rPr>
              <a:t>RLS: own user_id only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97730" y="3200400"/>
            <a:ext cx="276606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709160" y="299923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Realtime publish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447288"/>
            <a:ext cx="2583180" cy="23774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447288"/>
            <a:ext cx="25831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F172A"/>
                </a:solidFill>
                <a:latin typeface="맑은 고딕"/>
              </a:rPr>
              <a:t>지도 핀 업데이트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931670" y="3931920"/>
            <a:ext cx="276606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943100" y="373075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...반복...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178808"/>
            <a:ext cx="2583180" cy="23774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178808"/>
            <a:ext cx="25831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F172A"/>
                </a:solidFill>
                <a:latin typeface="맑은 고딕"/>
              </a:rPr>
              <a:t>ends_at 도달 → BG task 정지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4697730" y="4663440"/>
            <a:ext cx="553212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092190" y="446227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tick_meetup_status: status='ended'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4697730" y="5029200"/>
            <a:ext cx="553212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092190" y="482803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chat_rooms.archived_at = now()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4697730" y="5394960"/>
            <a:ext cx="553212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092190" y="5193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cleanup_pings (24h 후)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Sequence — 채팅 (텍스트/이미지/장소)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송신은 FastAPI 경유, 수신은 Supabase Realtime 직결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51560"/>
            <a:ext cx="2121408" cy="41148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1051560"/>
            <a:ext cx="2121408" cy="411480"/>
          </a:xfrm>
          <a:prstGeom prst="roundRect">
            <a:avLst>
              <a:gd name="adj" fmla="val 2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114300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Mobile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0056" y="1051560"/>
            <a:ext cx="2121408" cy="4114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74336" y="114300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2904" y="1051560"/>
            <a:ext cx="2121408" cy="411480"/>
          </a:xfrm>
          <a:prstGeom prst="roundRect">
            <a:avLst>
              <a:gd name="adj" fmla="val 20000"/>
            </a:avLst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87184" y="114300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Postgres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45752" y="1051560"/>
            <a:ext cx="2121408" cy="41148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0032" y="1143000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다른 멤버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55064" y="1554480"/>
            <a:ext cx="1" cy="402336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67912" y="1554480"/>
            <a:ext cx="1" cy="402336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1554480"/>
            <a:ext cx="1" cy="402336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93608" y="1554480"/>
            <a:ext cx="1" cy="402336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06456" y="1554480"/>
            <a:ext cx="1" cy="402336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655064" y="1737360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89888" y="15361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+ 장소 선택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52928" y="1984248"/>
            <a:ext cx="2029968" cy="23774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2928" y="1984248"/>
            <a:ext cx="20299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F172A"/>
                </a:solidFill>
                <a:latin typeface="맑은 고딕"/>
              </a:rPr>
              <a:t>PlacePicker → place 선택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67912" y="2468880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02736" y="22677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POST /api/chat/{room}/messages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5776" y="2715768"/>
            <a:ext cx="2029968" cy="23774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65776" y="2715768"/>
            <a:ext cx="20299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F172A"/>
                </a:solidFill>
                <a:latin typeface="맑은 고딕"/>
              </a:rPr>
              <a:t>권한·archived 체크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0760" y="3200400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15584" y="299923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INSERT messages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6080760" y="3566160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815584" y="33649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ok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867912" y="3931920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02736" y="373075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201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52928" y="4178808"/>
            <a:ext cx="2029968" cy="23774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52928" y="4178808"/>
            <a:ext cx="20299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F172A"/>
                </a:solidFill>
                <a:latin typeface="맑은 고딕"/>
              </a:rPr>
              <a:t>optimistic add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93608" y="4663440"/>
            <a:ext cx="2212848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028432" y="446227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Realtime NOTIFY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91472" y="4910328"/>
            <a:ext cx="2029968" cy="23774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91472" y="4910328"/>
            <a:ext cx="202996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F172A"/>
                </a:solidFill>
                <a:latin typeface="맑은 고딕"/>
              </a:rPr>
              <a:t>메시지 수신 + 푸시 알림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Sequence — 초대 수락 (그룹)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딥링크 → 메타 조회 → 수락 RPC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051560"/>
            <a:ext cx="2674620" cy="41148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27660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0420" y="1051560"/>
            <a:ext cx="2674620" cy="411480"/>
          </a:xfrm>
          <a:prstGeom prst="roundRect">
            <a:avLst>
              <a:gd name="adj" fmla="val 2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4700" y="1143000"/>
            <a:ext cx="27660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Mobile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51560"/>
            <a:ext cx="2674620" cy="4114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143000"/>
            <a:ext cx="27660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92540" y="1051560"/>
            <a:ext cx="2674620" cy="411480"/>
          </a:xfrm>
          <a:prstGeom prst="roundRect">
            <a:avLst>
              <a:gd name="adj" fmla="val 20000"/>
            </a:avLst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46820" y="1143000"/>
            <a:ext cx="27660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Postgres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31670" y="1554480"/>
            <a:ext cx="1" cy="484632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97730" y="1554480"/>
            <a:ext cx="1" cy="484632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63790" y="1554480"/>
            <a:ext cx="1" cy="484632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29850" y="1554480"/>
            <a:ext cx="1" cy="4846320"/>
          </a:xfrm>
          <a:prstGeom prst="line">
            <a:avLst/>
          </a:prstGeom>
          <a:ln w="6350">
            <a:solidFill>
              <a:srgbClr val="E2E8F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31670" y="1705927"/>
            <a:ext cx="276606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943100" y="1539335"/>
            <a:ext cx="2743200" cy="1514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deep link 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6140" y="1889950"/>
            <a:ext cx="2583180" cy="23774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6140" y="1889950"/>
            <a:ext cx="25831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F172A"/>
                </a:solidFill>
                <a:latin typeface="맑은 고딕"/>
              </a:rPr>
              <a:t>/invite/abc123 InviteAccept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97730" y="2311717"/>
            <a:ext cx="276606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709160" y="2145125"/>
            <a:ext cx="2743200" cy="1514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GET /api/invites/abc123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63790" y="2614612"/>
            <a:ext cx="276606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75220" y="2448020"/>
            <a:ext cx="2743200" cy="1514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SELECT invites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38260" y="2798635"/>
            <a:ext cx="2583180" cy="23774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38260" y="2798635"/>
            <a:ext cx="25831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F172A"/>
                </a:solidFill>
                <a:latin typeface="맑은 고딕"/>
              </a:rPr>
              <a:t>만료/소진/취소 체크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463790" y="3220402"/>
            <a:ext cx="276606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75220" y="3053810"/>
            <a:ext cx="2743200" cy="1514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메타 반환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4697730" y="3523297"/>
            <a:ext cx="276606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709160" y="3356705"/>
            <a:ext cx="2743200" cy="1514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200 + 메타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931670" y="3826192"/>
            <a:ext cx="276606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43100" y="3659600"/>
            <a:ext cx="2743200" cy="1514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수락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697730" y="4129087"/>
            <a:ext cx="276606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709160" y="3962495"/>
            <a:ext cx="2743200" cy="1514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POST /api/invites/abc123/accept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63790" y="4431982"/>
            <a:ext cx="276606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475220" y="4265390"/>
            <a:ext cx="2743200" cy="1514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BEGIN; SELECT FOR UPDATE invites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38260" y="4616005"/>
            <a:ext cx="2583180" cy="23774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38260" y="4616005"/>
            <a:ext cx="25831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F172A"/>
                </a:solidFill>
                <a:latin typeface="맑은 고딕"/>
              </a:rPr>
              <a:t>INSERT group_members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38260" y="4918900"/>
            <a:ext cx="2583180" cy="237744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38260" y="4918900"/>
            <a:ext cx="25831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F172A"/>
                </a:solidFill>
                <a:latin typeface="맑은 고딕"/>
              </a:rPr>
              <a:t>UPDATE used_count++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7463790" y="5340667"/>
            <a:ext cx="276606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475220" y="5174075"/>
            <a:ext cx="2743200" cy="1514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COMMIT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4697730" y="5643562"/>
            <a:ext cx="276606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709160" y="5476970"/>
            <a:ext cx="2743200" cy="1514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200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1931670" y="5946457"/>
            <a:ext cx="2766060" cy="1"/>
          </a:xfrm>
          <a:prstGeom prst="line">
            <a:avLst/>
          </a:prstGeom>
          <a:ln w="15875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943100" y="5779865"/>
            <a:ext cx="2743200" cy="1514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F1B3D"/>
                </a:solidFill>
                <a:latin typeface="맑은 고딕"/>
              </a:rPr>
              <a:t>GroupDetail로 이동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State Transition — Meetup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scheduled → active → ended (또는 cancelled)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743200"/>
            <a:ext cx="2011680" cy="12801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5B7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2743200"/>
            <a:ext cx="2011680" cy="41148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8346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scheduled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9184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405C"/>
                </a:solidFill>
                <a:latin typeface="맑은 고딕"/>
              </a:rPr>
              <a:t>기본 상태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743200"/>
            <a:ext cx="2011680" cy="12801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2743200"/>
            <a:ext cx="201168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29184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405C"/>
                </a:solidFill>
                <a:latin typeface="맑은 고딕"/>
              </a:rPr>
              <a:t>starts_at &lt;= now()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743200"/>
            <a:ext cx="2011680" cy="12801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0" y="2743200"/>
            <a:ext cx="2011680" cy="4114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28346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ended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329184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405C"/>
                </a:solidFill>
                <a:latin typeface="맑은 고딕"/>
              </a:rPr>
              <a:t>ends_at &lt;= now()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5029200"/>
            <a:ext cx="2011680" cy="12801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5029200"/>
            <a:ext cx="2011680" cy="4114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51206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cancelled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557784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3405C"/>
                </a:solidFill>
                <a:latin typeface="맑은 고딕"/>
              </a:rPr>
              <a:t>creator/admin 취소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40480" y="3383280"/>
            <a:ext cx="2103120" cy="1"/>
          </a:xfrm>
          <a:prstGeom prst="line">
            <a:avLst/>
          </a:prstGeom>
          <a:ln w="25400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023360" y="3108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F1B3D"/>
                </a:solidFill>
                <a:latin typeface="맑은 고딕"/>
              </a:rPr>
              <a:t>pg_cron tick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55279" y="3383280"/>
            <a:ext cx="2103121" cy="1"/>
          </a:xfrm>
          <a:prstGeom prst="line">
            <a:avLst/>
          </a:prstGeom>
          <a:ln w="25400">
            <a:solidFill>
              <a:srgbClr val="0F1B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138160" y="3108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F1B3D"/>
                </a:solidFill>
                <a:latin typeface="맑은 고딕"/>
              </a:rPr>
              <a:t>pg_cron tick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834640" y="4023360"/>
            <a:ext cx="3108960" cy="1005840"/>
          </a:xfrm>
          <a:prstGeom prst="line">
            <a:avLst/>
          </a:prstGeom>
          <a:ln w="2540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00400" y="4297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맑은 고딕"/>
              </a:rPr>
              <a:t>취소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49440" y="4023360"/>
            <a:ext cx="1" cy="1005840"/>
          </a:xfrm>
          <a:prstGeom prst="line">
            <a:avLst/>
          </a:prstGeom>
          <a:ln w="25400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32320" y="4297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맑은 고딕"/>
              </a:rPr>
              <a:t>취소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760720"/>
            <a:ext cx="11247120" cy="64008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815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B3D"/>
                </a:solidFill>
                <a:latin typeface="맑은 고딕"/>
              </a:rPr>
              <a:t>부수 효과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5332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active → ended: chat_room.archived_at = now()    ·    * → cancelled: archived + 참여자 푸시    ·    scheduled → active: 별도 작업 없음 (모바일 자체 트리거)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Backend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MeetPod/backend/ — PickPod와 동일 컨벤션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286000" cy="50292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075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routers/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2286000" cy="43891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auth.py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profiles.py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friendships.py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63239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invites.py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groups.py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meetups.py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reminders.py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09159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chat.py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1188720"/>
            <a:ext cx="228600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13075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services/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1691640"/>
            <a:ext cx="2286000" cy="43891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1828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invite_service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22402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group_service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26517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meetup_service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063239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chat_service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474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reminder_service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38862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push_service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2976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place_service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1188720"/>
            <a:ext cx="2286000" cy="50292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3075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dependencies/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1691640"/>
            <a:ext cx="2286000" cy="43891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0" y="1828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auth.py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22402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  (Bearer JWT → user_id)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26517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permissions.py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3063239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  (require_owner_or_admin)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1188720"/>
            <a:ext cx="2286000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13075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utils/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1691640"/>
            <a:ext cx="2286000" cy="43891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5240" y="1828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jwt_utils.py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2402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supabase_client.py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517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db.py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063239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  (single 헬퍼)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74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invite_code.py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8862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  (Crockford 8자)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1188720"/>
            <a:ext cx="2286000" cy="50292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13075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models/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84080" y="1691640"/>
            <a:ext cx="2286000" cy="43891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6960" y="1828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auth.py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22402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profile.py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60" y="26517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group.py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3063239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meetup.py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347472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chat.py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38862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맑은 고딕"/>
              </a:rPr>
              <a:t>• invite.py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852160"/>
            <a:ext cx="11247120" cy="50292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9525">
            <a:solidFill>
              <a:srgbClr val="0F1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Vercel entry: api/index.py → app/main.py (FastAPI). 라우터 thin · 비즈니스 로직 services/. 모든 라우트 prefix /api.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Mobile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MeetPod/mobile/src/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286000" cy="50292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075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api/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2286000" cy="4572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client.ts (axios)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12847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  baseURL · JWT interceptor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96896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  401 → re-login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80944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auth · profiles ·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649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meetups · invites · 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490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reminders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1188720"/>
            <a:ext cx="2286000" cy="50292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13075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lib/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1691640"/>
            <a:ext cx="2286000" cy="4572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828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supabase.ts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2212847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  Supabase JS singleton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2596896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location_tracker.ts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2980944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  expo-location TaskManager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3649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push_registrar.ts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7490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deep_link.ts (Linking)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413308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time.ts (day.js)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1188720"/>
            <a:ext cx="228600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13075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store/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1691640"/>
            <a:ext cx="2286000" cy="4572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1828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auth_store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2212847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  session, 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2596896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meetups_store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2980944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  약속 목록 캐시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33649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chat_store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37490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  room별 + Realtime lifecycle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13308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friends_store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1188720"/>
            <a:ext cx="2286000" cy="5029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13075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navigation/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52360" y="1691640"/>
            <a:ext cx="2286000" cy="4572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1828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root.tsx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212847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  Auth or MainTab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596896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auth_stack.tsx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980944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main_tab.tsx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3649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  Meetups · Groups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490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  Chats · 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1188720"/>
            <a:ext cx="2286000" cy="50292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84080" y="13075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screens/components/theme/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84080" y="1691640"/>
            <a:ext cx="2286000" cy="4572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6960" y="1828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screens/auth · meetups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60" y="2212847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screens/groups · chats · 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2596896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components/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2980944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  Avatar · Pill · MapPin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33649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  MessageBubble · PlaceCard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960" y="37490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• theme/ (design tokens)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API Endpoints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Auth · Profile · Friend · Invite ·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88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188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1188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권한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1124712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609344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61848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16276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/api/auth/bootstrap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6276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profile 행 보장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627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self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865376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1920240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92938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19385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/api/auth/handle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9385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핸들 1회 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1938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self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176272"/>
            <a:ext cx="1124712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2231136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2402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224942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/api/profiles/me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2494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내 프로필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24942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87168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2542032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55117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2560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/api/profiles/me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2560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display_name/avatar/token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560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self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798064"/>
            <a:ext cx="1124712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2852928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286207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287121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/api/friends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287121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친구 목록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28712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self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108960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8640" y="3163824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317296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DELETE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91640" y="31821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/api/friends/{user_id}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318211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친구 끊기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31821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self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419856"/>
            <a:ext cx="1124712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8640" y="3474720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348386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POST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91640" y="34930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/api/invites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40" y="34930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초대 코드 발급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34930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self / admin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30752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48640" y="3785616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379476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GET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91640" y="380390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/api/invites/{code}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38039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코드 메타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12680" y="38039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anon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041648"/>
            <a:ext cx="1124712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48640" y="4096512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410565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POST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91640" y="41148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/api/invites/{code}/accept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20840" y="4114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수락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12680" y="4114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self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352544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48640" y="4407408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441655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DELETE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91640" y="442569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/api/invites/{code}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20840" y="44256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발급자 취소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12680" y="44256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inviter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4663440"/>
            <a:ext cx="1124712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8640" y="4718304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472744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GET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91640" y="47365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/api/groups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20840" y="47365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내 그룹 목록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4736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self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974336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48640" y="5029200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503834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POST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91640" y="50474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/api/groups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20840" y="50474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그룹 생성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12680" y="5047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self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5285232"/>
            <a:ext cx="1124712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548640" y="5340096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8640" y="534924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GET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91640" y="535838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/api/groups/{id}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720840" y="53583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그룹 상세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12680" y="53583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member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5596128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548640" y="5650992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" y="566013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PATCH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91640" y="5669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/api/groups/{id}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720840" y="5669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그룹 수정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1268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owner/admin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5907024"/>
            <a:ext cx="1124712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548640" y="5961888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48640" y="597103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DELETE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691640" y="598017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/api/groups/{id}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20840" y="59801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그룹 해체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012680" y="5980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owner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6217920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548640" y="6272784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48640" y="62819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GET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91640" y="62910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/api/groups/{id}/members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20840" y="62910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멤버 목록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12680" y="62910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member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API Endpoints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Group(cont.) · Meetup · Reminder · Chat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88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188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188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1188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권한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1124712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609344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61848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16276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/api/groups/{id}/members/{uid}/role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6276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admin↔member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627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owner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865376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1920240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92938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19385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/api/groups/{id}/members/{uid}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9385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추방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1938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owner/admin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176272"/>
            <a:ext cx="1124712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2231136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24028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224942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/api/groups/{id}/leave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2494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본인 탈퇴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24942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87168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2542032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55117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2560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/api/groups/{id}/transfer-owner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2560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owner 위임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560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owner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798064"/>
            <a:ext cx="1124712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2852928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286207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287121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/api/meetups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287121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내 약속 (다가오는/오늘/지난)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28712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self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108960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8640" y="3163824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317296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91640" y="31821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/api/meetups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318211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약속 생성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31821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self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419856"/>
            <a:ext cx="1124712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8640" y="3474720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348386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GET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91640" y="34930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/api/meetups/{id}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40" y="34930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약속 상세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34930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participant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30752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48640" y="3785616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379476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PATCH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91640" y="380390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/api/meetups/{id}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38039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정보 수정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12680" y="38039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creator/admin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041648"/>
            <a:ext cx="1124712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48640" y="4096512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410565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POST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91640" y="41148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/api/meetups/{id}/cancel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20840" y="4114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취소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12680" y="4114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creator/admin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352544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48640" y="4407408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441655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POST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91640" y="442569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/api/meetups/{id}/participants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20840" y="44256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멤버 추가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12680" y="44256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creator/admin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4663440"/>
            <a:ext cx="1124712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8640" y="4718304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472744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DELETE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91640" y="47365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/api/meetups/{id}/participants/{uid}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20840" y="47365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제거/탈퇴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4736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self/admin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974336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48640" y="5029200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503834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PATCH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91640" y="50474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/api/meetups/{id}/share-location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20840" y="50474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본인 위치공유 토글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12680" y="5047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self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5285232"/>
            <a:ext cx="1124712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548640" y="5340096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8640" y="534924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PUT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91640" y="535838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/api/meetups/{id}/reminders/me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720840" y="53583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본인 알림 시각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12680" y="53583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self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5596128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548640" y="5650992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" y="566013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POST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91640" y="5669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/api/chat/{room_id}/messages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720840" y="5669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메시지 전송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1268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room member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5907024"/>
            <a:ext cx="11247120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548640" y="5961888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48640" y="597103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PATCH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691640" y="598017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/api/chat/messages/{id}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20840" y="59801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본인 메시지 편집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012680" y="59801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sender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6217920"/>
            <a:ext cx="1124712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548640" y="6272784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48640" y="62819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DELETE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91640" y="62910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맑은 고딕"/>
              </a:rPr>
              <a:t>/api/chat/messages/{id}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20840" y="62910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05C"/>
                </a:solidFill>
                <a:latin typeface="맑은 고딕"/>
              </a:rPr>
              <a:t>soft delete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12680" y="62910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sender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Business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강제 위치 정리 — DB · Trigger · API 분담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91440" cy="54864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704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핸들 unique + 정규식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26187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DB UNIQUE + CHECK + API 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00784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00784"/>
            <a:ext cx="9144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7393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그룹은 owner 1명 필수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86537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trigger (마지막 owner 탈퇴 차단)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04288"/>
            <a:ext cx="11247120" cy="548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304288"/>
            <a:ext cx="91440" cy="54864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774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1회성 약속은 그룹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46888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meetups.group_id NULL 허용 + API 분기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07792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907792"/>
            <a:ext cx="9144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98094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약속 종료는 ends_at + pg_cron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072384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트리거 X — 클라이언트 시간 조작 무관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11296"/>
            <a:ext cx="11247120" cy="548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511296"/>
            <a:ext cx="91440" cy="54864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844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위치 핑은 active 상태에서만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67588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RLS + meetups.status 체크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14800"/>
            <a:ext cx="91440" cy="548640"/>
          </a:xfrm>
          <a:prstGeom prst="rect">
            <a:avLst/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879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채팅은 archived 후도 송수신 가능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427939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API의 archived 체크 제거 (시나리오 11)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718304"/>
            <a:ext cx="11247120" cy="548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718304"/>
            <a:ext cx="91440" cy="548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79145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푸시 중복 방지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488289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reminder 행 자체가 큐 → 발송 후 DELETE (idempotent)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321808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321808"/>
            <a:ext cx="9144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394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초대 코드 충돌 방지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54864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DB UNIQUE + INSERT 충돌 시 재생성 (8자 base32 ≈ 10억)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Non-Functional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성능 · 보존 · 가용성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88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188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1887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비고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554480"/>
            <a:ext cx="91440" cy="4572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6733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응답 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67335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7CFA"/>
                </a:solidFill>
                <a:latin typeface="맑은 고딕"/>
              </a:rPr>
              <a:t>p95 API 300ms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Vercel cold 제외, 단순 SELECT는 직결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57400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057400"/>
            <a:ext cx="91440" cy="4572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1762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위치 핑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1762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7CFA"/>
                </a:solidFill>
                <a:latin typeface="맑은 고딕"/>
              </a:rPr>
              <a:t>end-to-end ≤ 2s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Supabase Realtime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60320"/>
            <a:ext cx="1124712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560320"/>
            <a:ext cx="91440" cy="4572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791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푸시 정확도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67919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7CFA"/>
                </a:solidFill>
                <a:latin typeface="맑은 고딕"/>
              </a:rPr>
              <a:t>reminder dispatch ±1분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97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pg_cron 1분 주기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063240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063240"/>
            <a:ext cx="91440" cy="4572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1821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동시 접속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18211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7CFA"/>
                </a:solidFill>
                <a:latin typeface="맑은 고딕"/>
              </a:rPr>
              <a:t>MVP 1,000명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2004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Supabase Free/Pro 충분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566160"/>
            <a:ext cx="91440" cy="4572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6850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가용성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368503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7CFA"/>
                </a:solidFill>
                <a:latin typeface="맑은 고딕"/>
              </a:rPr>
              <a:t>99.5%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703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Vercel + Supabase SLA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069080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069080"/>
            <a:ext cx="91440" cy="4572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187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location_pings 보존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418795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7CFA"/>
                </a:solidFill>
                <a:latin typeface="맑은 고딕"/>
              </a:rPr>
              <a:t>24시간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206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프라이버시 + 비용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572000"/>
            <a:ext cx="91440" cy="4572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6908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messages 보존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6908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7CFA"/>
                </a:solidFill>
                <a:latin typeface="맑은 고딕"/>
              </a:rPr>
              <a:t>무기한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709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soft delete만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5074920"/>
            <a:ext cx="91440" cy="457200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1937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맑은 고딕"/>
              </a:rPr>
              <a:t>탈퇴 시 profile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519379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7CFA"/>
                </a:solidFill>
                <a:latin typeface="맑은 고딕"/>
              </a:rPr>
              <a:t>즉시 익명화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212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GDPR-friendly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Security — Threat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위협별 대응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4712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91440" cy="5943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704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F4444"/>
                </a:solidFill>
                <a:latin typeface="맑은 고딕"/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15214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타 사용자 위치 노출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3898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RLS (같은 meetup 참여자만) + share_location 본인 토글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783080"/>
            <a:ext cx="91440" cy="5943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8562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F4444"/>
                </a:solidFill>
                <a:latin typeface="맑은 고딕"/>
              </a:rP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83794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초대 코드 brute force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0756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8자 base32 (10억 공간) + invite 조회 rate limit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68880"/>
            <a:ext cx="1124712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468880"/>
            <a:ext cx="91440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420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9E0B"/>
                </a:solidFill>
                <a:latin typeface="맑은 고딕"/>
              </a:rPr>
              <a:t>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52374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JWT 탈취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7614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Refresh token rotation + 클라이언트 secure storage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5468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154680"/>
            <a:ext cx="91440" cy="5943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278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F4444"/>
                </a:solidFill>
                <a:latin typeface="맑은 고딕"/>
              </a:rPr>
              <a:t>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20954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RLS 우회 (service_role 키 노출)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4472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키는 backend env만, 클라이언트는 anon key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40480"/>
            <a:ext cx="1124712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840480"/>
            <a:ext cx="91440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9136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9E0B"/>
                </a:solidFill>
                <a:latin typeface="맑은 고딕"/>
              </a:rPr>
              <a:t>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89534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채팅 첨부 악용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1330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Storage 정책 + 이미지 크기/타입 검증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52628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526280"/>
            <a:ext cx="9144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5994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0B981"/>
                </a:solidFill>
                <a:latin typeface="맑은 고딕"/>
              </a:rPr>
              <a:t>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58114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푸시 스팸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8188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사용자 알림 설정, 약속당 변경/취소 알림 N회 rate guard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212080"/>
            <a:ext cx="11247120" cy="594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212080"/>
            <a:ext cx="91440" cy="59436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2852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맑은 고딕"/>
              </a:rPr>
              <a:t>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26694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핸들 squatting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55046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14일 미사용 회수 정책 (Phase 2). MVP는 영구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Deploy · Observability ·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환경 분리 · 관측 · 테스트 전략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24688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5B7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B7CFA"/>
                </a:solidFill>
                <a:latin typeface="맑은 고딕"/>
              </a:rPr>
              <a:t>Environments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733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916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meetpod-dev · local uvicorn · Expo 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4884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677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staging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2860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meetpod-staging · Vercel Preview · EAS internal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432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5B7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62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prod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8803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05C"/>
                </a:solidFill>
                <a:latin typeface="맑은 고딕"/>
              </a:rPr>
              <a:t>meetpod-prod · Vercel Production · EAS 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097280"/>
            <a:ext cx="5486400" cy="24688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FF6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188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900"/>
                </a:solidFill>
                <a:latin typeface="맑은 고딕"/>
              </a:rPr>
              <a:t>Observability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554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• Backend 로그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15544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Vercel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88366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• DB 쿼리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88366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Supabase Studio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128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• Realtime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21284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Supabase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420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• 푸시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5420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Edge Function 로그 + outbox (Phase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71215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• 모바일 크래시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871215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Sentry (Expo 통합)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• 사용자 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200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PostHog/Amplitude (Phase 2)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749039"/>
            <a:ext cx="11247120" cy="24688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840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맑은 고딕"/>
              </a:rPr>
              <a:t>Testing Strategy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251960"/>
            <a:ext cx="10881360" cy="36576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3251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레벨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43251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도구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3251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범위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4663440"/>
            <a:ext cx="1088136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71830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단위 (backend)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471830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B7CFA"/>
                </a:solidFill>
                <a:latin typeface="맑은 고딕"/>
              </a:rPr>
              <a:t>pytest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71830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service 함수, 유효성 검증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956048"/>
            <a:ext cx="1088136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01091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RLS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40" y="501091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B7CFA"/>
                </a:solidFill>
                <a:latin typeface="맑은 고딕"/>
              </a:rPr>
              <a:t>pgTAP / SQL 시나리오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0109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권한 우회 시도, 정책 정합성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248656"/>
            <a:ext cx="1088136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3035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통합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0440" y="530352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B7CFA"/>
                </a:solidFill>
                <a:latin typeface="맑은 고딕"/>
              </a:rPr>
              <a:t>pytest + Supabase local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303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라우터 ↔ DB ↔ RLS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5541264"/>
            <a:ext cx="1088136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596128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모바일 단위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0440" y="559612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B7CFA"/>
                </a:solidFill>
                <a:latin typeface="맑은 고딕"/>
              </a:rPr>
              <a:t>Jest + RNTL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55961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store, util, 작은 컴포넌트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5833872"/>
            <a:ext cx="10881360" cy="274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88873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수동 E2E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20440" y="5888736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B7CFA"/>
                </a:solidFill>
                <a:latin typeface="맑은 고딕"/>
              </a:rPr>
              <a:t>TestFlight / EAS internal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588873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백그라운드 위치 (시뮬레이터 부정확)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618134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맑은 고딕"/>
              </a:rPr>
              <a:t>부하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20440" y="618134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B7CFA"/>
                </a:solidFill>
                <a:latin typeface="맑은 고딕"/>
              </a:rPr>
              <a:t>Locust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618134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채팅 fan-out, 위치 핑 INSERT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FF6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6900"/>
                </a:solidFill>
                <a:latin typeface="맑은 고딕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Top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</a:rPr>
              <a:t>출시 전 반드시 검증할 5가지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8686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128016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188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맑은 고딕"/>
              </a:rPr>
              <a:t>iOS 백그라운드 위치 권한 거부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155448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58191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영향: 위치공유 동작 안 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5544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05C"/>
                </a:solidFill>
                <a:latin typeface="맑은 고딕"/>
              </a:rPr>
              <a:t>→ OS 설정 가이드 + 포그라운드 fallback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57400"/>
            <a:ext cx="11247120" cy="8686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33172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148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맑은 고딕"/>
              </a:rPr>
              <a:t>Kakao 로그인 Supabase 비호환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251460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254203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영향: 가입 마찰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5146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05C"/>
                </a:solidFill>
                <a:latin typeface="맑은 고딕"/>
              </a:rPr>
              <a:t>→ Custom OIDC 또는 백엔드 검증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017520"/>
            <a:ext cx="11247120" cy="8686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" y="320040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#3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108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맑은 고딕"/>
              </a:rPr>
              <a:t>Google Places API 비용 폭증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347472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350215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영향: 운영비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47472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05C"/>
                </a:solidFill>
                <a:latin typeface="맑은 고딕"/>
              </a:rPr>
              <a:t>→ 디바운스, 캐싱, 일일 한도 알림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977640"/>
            <a:ext cx="11247120" cy="8686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4360" y="416052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2519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#4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069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맑은 고딕"/>
              </a:rPr>
              <a:t>위치 핑 INSERT 양 폭증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0160" y="443484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446227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영향: DB I/O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4348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05C"/>
                </a:solidFill>
                <a:latin typeface="맑은 고딕"/>
              </a:rPr>
              <a:t>→ 인덱스, TTL 단축, 핑 주기 증가 옵션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937760"/>
            <a:ext cx="11247120" cy="8686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94360" y="512064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2120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#5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029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맑은 고딕"/>
              </a:rPr>
              <a:t>푸시 알림 과다 → 사용자 이탈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80160" y="539496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42239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영향: 리텐션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53949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05C"/>
                </a:solidFill>
                <a:latin typeface="맑은 고딕"/>
              </a:rPr>
              <a:t>→ 사용자별 채널 토글, 빈도 가이드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맑은 고딕"/>
              </a:rPr>
              <a:t>MeetPod — 시스템 설계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맑은 고딕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